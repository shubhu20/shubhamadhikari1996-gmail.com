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y="7635875" cx="13716000"/>
  <p:notesSz cx="9144000" cy="6858000"/>
  <p:defaultTextStyle>
    <a:defPPr>
      <a:defRPr lang="en-US"/>
    </a:defPPr>
    <a:lvl1pPr algn="l" defTabSz="1056064" eaLnBrk="1" hangingPunct="1" latinLnBrk="0" marL="0" rtl="0">
      <a:defRPr sz="2100" kern="1200">
        <a:solidFill>
          <a:schemeClr val="tx1"/>
        </a:solidFill>
        <a:latin typeface="+mn-lt"/>
        <a:ea typeface="+mn-ea"/>
        <a:cs typeface="+mn-cs"/>
      </a:defRPr>
    </a:lvl1pPr>
    <a:lvl2pPr algn="l" defTabSz="1056064" eaLnBrk="1" hangingPunct="1" latinLnBrk="0" marL="528032" rtl="0">
      <a:defRPr sz="2100" kern="1200">
        <a:solidFill>
          <a:schemeClr val="tx1"/>
        </a:solidFill>
        <a:latin typeface="+mn-lt"/>
        <a:ea typeface="+mn-ea"/>
        <a:cs typeface="+mn-cs"/>
      </a:defRPr>
    </a:lvl2pPr>
    <a:lvl3pPr algn="l" defTabSz="1056064" eaLnBrk="1" hangingPunct="1" latinLnBrk="0" marL="1056064" rtl="0">
      <a:defRPr sz="2100" kern="1200">
        <a:solidFill>
          <a:schemeClr val="tx1"/>
        </a:solidFill>
        <a:latin typeface="+mn-lt"/>
        <a:ea typeface="+mn-ea"/>
        <a:cs typeface="+mn-cs"/>
      </a:defRPr>
    </a:lvl3pPr>
    <a:lvl4pPr algn="l" defTabSz="1056064" eaLnBrk="1" hangingPunct="1" latinLnBrk="0" marL="1584096" rtl="0">
      <a:defRPr sz="2100" kern="1200">
        <a:solidFill>
          <a:schemeClr val="tx1"/>
        </a:solidFill>
        <a:latin typeface="+mn-lt"/>
        <a:ea typeface="+mn-ea"/>
        <a:cs typeface="+mn-cs"/>
      </a:defRPr>
    </a:lvl4pPr>
    <a:lvl5pPr algn="l" defTabSz="1056064" eaLnBrk="1" hangingPunct="1" latinLnBrk="0" marL="2112129" rtl="0">
      <a:defRPr sz="2100" kern="1200">
        <a:solidFill>
          <a:schemeClr val="tx1"/>
        </a:solidFill>
        <a:latin typeface="+mn-lt"/>
        <a:ea typeface="+mn-ea"/>
        <a:cs typeface="+mn-cs"/>
      </a:defRPr>
    </a:lvl5pPr>
    <a:lvl6pPr algn="l" defTabSz="1056064" eaLnBrk="1" hangingPunct="1" latinLnBrk="0" marL="2640162" rtl="0">
      <a:defRPr sz="2100" kern="1200">
        <a:solidFill>
          <a:schemeClr val="tx1"/>
        </a:solidFill>
        <a:latin typeface="+mn-lt"/>
        <a:ea typeface="+mn-ea"/>
        <a:cs typeface="+mn-cs"/>
      </a:defRPr>
    </a:lvl6pPr>
    <a:lvl7pPr algn="l" defTabSz="1056064" eaLnBrk="1" hangingPunct="1" latinLnBrk="0" marL="3168198" rtl="0">
      <a:defRPr sz="2100" kern="1200">
        <a:solidFill>
          <a:schemeClr val="tx1"/>
        </a:solidFill>
        <a:latin typeface="+mn-lt"/>
        <a:ea typeface="+mn-ea"/>
        <a:cs typeface="+mn-cs"/>
      </a:defRPr>
    </a:lvl7pPr>
    <a:lvl8pPr algn="l" defTabSz="1056064" eaLnBrk="1" hangingPunct="1" latinLnBrk="0" marL="3696227" rtl="0">
      <a:defRPr sz="2100" kern="1200">
        <a:solidFill>
          <a:schemeClr val="tx1"/>
        </a:solidFill>
        <a:latin typeface="+mn-lt"/>
        <a:ea typeface="+mn-ea"/>
        <a:cs typeface="+mn-cs"/>
      </a:defRPr>
    </a:lvl8pPr>
    <a:lvl9pPr algn="l" defTabSz="1056064" eaLnBrk="1" hangingPunct="1" latinLnBrk="0" marL="4224260" rtl="0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showOutlineIcons="0">
    <p:restoredLeft sz="14159" autoAdjust="0"/>
    <p:restoredTop sz="94624" autoAdjust="0"/>
  </p:normalViewPr>
  <p:slideViewPr>
    <p:cSldViewPr>
      <p:cViewPr>
        <p:scale>
          <a:sx n="46" d="100"/>
          <a:sy n="46" d="100"/>
        </p:scale>
        <p:origin x="-1464" y="-486"/>
      </p:cViewPr>
      <p:guideLst>
        <p:guide orient="horz" pos="2405"/>
        <p:guide pos="4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8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025681EF-4AD2-4E12-98D1-35D87DD96D86}" type="datetimeFigureOut">
              <a:rPr lang="en-US" smtClean="0"/>
              <a:t>4/16/2021</a:t>
            </a:fld>
            <a:endParaRPr lang="en-US"/>
          </a:p>
        </p:txBody>
      </p:sp>
      <p:sp>
        <p:nvSpPr>
          <p:cNvPr id="1048683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263775" y="514350"/>
            <a:ext cx="4616450" cy="257175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68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8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3FB77DDD-39B9-468A-8B16-C5FBEB25A92A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3706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3706" eaLnBrk="1" hangingPunct="1" latinLnBrk="0" marL="456854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3706" eaLnBrk="1" hangingPunct="1" latinLnBrk="0" marL="913706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3706" eaLnBrk="1" hangingPunct="1" latinLnBrk="0" marL="1370561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3706" eaLnBrk="1" hangingPunct="1" latinLnBrk="0" marL="1827417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3706" eaLnBrk="1" hangingPunct="1" latinLnBrk="0" marL="2284275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3706" eaLnBrk="1" hangingPunct="1" latinLnBrk="0" marL="2741127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3706" eaLnBrk="1" hangingPunct="1" latinLnBrk="0" marL="3197984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3706" eaLnBrk="1" hangingPunct="1" latinLnBrk="0" marL="3654837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Slide Image Placeholder 1"/>
          <p:cNvSpPr>
            <a:spLocks noChangeAspect="1" noRot="1" noGrp="1"/>
          </p:cNvSpPr>
          <p:nvPr>
            <p:ph type="sldImg"/>
          </p:nvPr>
        </p:nvSpPr>
        <p:spPr>
          <a:xfrm>
            <a:off x="2263775" y="514350"/>
            <a:ext cx="4616450" cy="2571750"/>
          </a:xfrm>
        </p:spPr>
      </p:sp>
      <p:sp>
        <p:nvSpPr>
          <p:cNvPr id="1048592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dirty="0" lang="en-US"/>
          </a:p>
        </p:txBody>
      </p:sp>
      <p:sp>
        <p:nvSpPr>
          <p:cNvPr id="104859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3FB77DDD-39B9-468A-8B16-C5FBEB25A92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lang="en-US"/>
          </a:p>
        </p:txBody>
      </p:sp>
      <p:sp>
        <p:nvSpPr>
          <p:cNvPr id="10486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3FB77DDD-39B9-468A-8B16-C5FBEB25A92A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Subtitle 8"/>
          <p:cNvSpPr>
            <a:spLocks noGrp="1"/>
          </p:cNvSpPr>
          <p:nvPr>
            <p:ph type="subTitle" idx="1"/>
          </p:nvPr>
        </p:nvSpPr>
        <p:spPr>
          <a:xfrm>
            <a:off x="685800" y="4119458"/>
            <a:ext cx="12458700" cy="1272646"/>
          </a:xfrm>
        </p:spPr>
        <p:txBody>
          <a:bodyPr>
            <a:noAutofit/>
          </a:bodyPr>
          <a:lstStyle>
            <a:lvl1pPr algn="ctr" indent="0" marL="0">
              <a:buNone/>
              <a:defRPr baseline="0" sz="2900" spc="133">
                <a:solidFill>
                  <a:schemeClr val="tx2"/>
                </a:solidFill>
              </a:defRPr>
            </a:lvl1pPr>
            <a:lvl2pPr algn="ctr" indent="0" marL="610042">
              <a:buNone/>
            </a:lvl2pPr>
            <a:lvl3pPr algn="ctr" indent="0" marL="1220084">
              <a:buNone/>
            </a:lvl3pPr>
            <a:lvl4pPr algn="ctr" indent="0" marL="1830126">
              <a:buNone/>
            </a:lvl4pPr>
            <a:lvl5pPr algn="ctr" indent="0" marL="2440168">
              <a:buNone/>
            </a:lvl5pPr>
            <a:lvl6pPr algn="ctr" indent="0" marL="3050210">
              <a:buNone/>
            </a:lvl6pPr>
            <a:lvl7pPr algn="ctr" indent="0" marL="3660252">
              <a:buNone/>
            </a:lvl7pPr>
            <a:lvl8pPr algn="ctr" indent="0" marL="4270294">
              <a:buNone/>
            </a:lvl8pPr>
            <a:lvl9pPr algn="ctr" indent="0" marL="4880336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48626" name="Title 27"/>
          <p:cNvSpPr>
            <a:spLocks noGrp="1"/>
          </p:cNvSpPr>
          <p:nvPr>
            <p:ph type="ctrTitle"/>
          </p:nvPr>
        </p:nvSpPr>
        <p:spPr>
          <a:xfrm>
            <a:off x="685800" y="1596355"/>
            <a:ext cx="12458700" cy="2205919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b="0" dirty="0" sz="6400" lang="en-US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r="13500000" dist="254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3145751" name="Straight Connector 7"/>
          <p:cNvCxnSpPr>
            <a:cxnSpLocks/>
          </p:cNvCxnSpPr>
          <p:nvPr/>
        </p:nvCxnSpPr>
        <p:spPr>
          <a:xfrm>
            <a:off x="2195439" y="3952802"/>
            <a:ext cx="4457700" cy="1768"/>
          </a:xfrm>
          <a:prstGeom prst="line"/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algn="tl" blurRad="31750" dir="27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2" name="Straight Connector 12"/>
          <p:cNvCxnSpPr>
            <a:cxnSpLocks/>
          </p:cNvCxnSpPr>
          <p:nvPr/>
        </p:nvCxnSpPr>
        <p:spPr>
          <a:xfrm>
            <a:off x="7062861" y="3952802"/>
            <a:ext cx="4457700" cy="1768"/>
          </a:xfrm>
          <a:prstGeom prst="line"/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algn="tl" blurRad="31750" dir="27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27" name="Oval 13"/>
          <p:cNvSpPr/>
          <p:nvPr/>
        </p:nvSpPr>
        <p:spPr>
          <a:xfrm>
            <a:off x="6810522" y="3926276"/>
            <a:ext cx="68580" cy="50906"/>
          </a:xfrm>
          <a:prstGeom prst="ellipse"/>
          <a:effectLst>
            <a:outerShdw algn="tl" blurRad="31750" dir="2700000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bIns="61004" lIns="122008" rIns="122008" rtlCol="0" tIns="61004"/>
          <a:p>
            <a:pPr algn="ctr" eaLnBrk="1" hangingPunct="1" latinLnBrk="0"/>
            <a:endParaRPr kumimoji="0" lang="en-US"/>
          </a:p>
        </p:txBody>
      </p:sp>
      <p:sp>
        <p:nvSpPr>
          <p:cNvPr id="1048628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4/16/2021</a:t>
            </a:fld>
            <a:endParaRPr lang="en-US"/>
          </a:p>
        </p:txBody>
      </p:sp>
      <p:sp>
        <p:nvSpPr>
          <p:cNvPr id="1048629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048630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Content Placeholder 8"/>
          <p:cNvSpPr>
            <a:spLocks noGrp="1"/>
          </p:cNvSpPr>
          <p:nvPr>
            <p:ph idx="1"/>
          </p:nvPr>
        </p:nvSpPr>
        <p:spPr>
          <a:xfrm>
            <a:off x="685800" y="1696861"/>
            <a:ext cx="12344400" cy="5090583"/>
          </a:xfrm>
        </p:spPr>
        <p:txBody>
          <a:bodyPr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641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4/16/2021</a:t>
            </a:fld>
            <a:endParaRPr lang="en-US"/>
          </a:p>
        </p:txBody>
      </p:sp>
      <p:sp>
        <p:nvSpPr>
          <p:cNvPr id="1048642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/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048643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p>
            <a:endParaRPr lang="en-US"/>
          </a:p>
        </p:txBody>
      </p:sp>
      <p:sp>
        <p:nvSpPr>
          <p:cNvPr id="1048644" name="Title 16"/>
          <p:cNvSpPr>
            <a:spLocks noGrp="1"/>
          </p:cNvSpPr>
          <p:nvPr>
            <p:ph type="title"/>
          </p:nvPr>
        </p:nvSpPr>
        <p:spPr/>
        <p:txBody>
          <a:bodyPr anchor="b" anchorCtr="0" rtlCol="0"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4/16/2021</a:t>
            </a:fld>
            <a:endParaRPr lang="en-US"/>
          </a:p>
        </p:txBody>
      </p:sp>
      <p:sp>
        <p:nvSpPr>
          <p:cNvPr id="104865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048659" name="Title 1"/>
          <p:cNvSpPr>
            <a:spLocks noGrp="1"/>
          </p:cNvSpPr>
          <p:nvPr>
            <p:ph type="title"/>
          </p:nvPr>
        </p:nvSpPr>
        <p:spPr>
          <a:xfrm>
            <a:off x="1028700" y="3902781"/>
            <a:ext cx="11887200" cy="1527175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b="0" dirty="0" sz="6400" lang="en-US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r="13500000" dist="254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60" name="Text Placeholder 2"/>
          <p:cNvSpPr>
            <a:spLocks noGrp="1"/>
          </p:cNvSpPr>
          <p:nvPr>
            <p:ph type="body" idx="1"/>
          </p:nvPr>
        </p:nvSpPr>
        <p:spPr>
          <a:xfrm>
            <a:off x="1028700" y="5521328"/>
            <a:ext cx="11887200" cy="1096431"/>
          </a:xfrm>
        </p:spPr>
        <p:txBody>
          <a:bodyPr anchor="t"/>
          <a:lstStyle>
            <a:lvl1pPr indent="0" marL="0">
              <a:buNone/>
              <a:defRPr baseline="0" sz="2700" spc="133">
                <a:solidFill>
                  <a:schemeClr val="tx2"/>
                </a:solidFill>
              </a:defRPr>
            </a:lvl1pPr>
            <a:lvl2pPr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cxnSp>
        <p:nvCxnSpPr>
          <p:cNvPr id="3145753" name="Straight Connector 6"/>
          <p:cNvCxnSpPr>
            <a:cxnSpLocks/>
          </p:cNvCxnSpPr>
          <p:nvPr/>
        </p:nvCxnSpPr>
        <p:spPr>
          <a:xfrm>
            <a:off x="1028700" y="5474707"/>
            <a:ext cx="11887200" cy="4789"/>
          </a:xfrm>
          <a:prstGeom prst="line"/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algn="tl" blurRad="31750" dir="27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4/16/2021</a:t>
            </a:fld>
            <a:endParaRPr lang="en-US"/>
          </a:p>
        </p:txBody>
      </p:sp>
      <p:sp>
        <p:nvSpPr>
          <p:cNvPr id="10486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04866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65" name="Content Placeholder 10"/>
          <p:cNvSpPr>
            <a:spLocks noGrp="1"/>
          </p:cNvSpPr>
          <p:nvPr>
            <p:ph sz="half" idx="1"/>
          </p:nvPr>
        </p:nvSpPr>
        <p:spPr>
          <a:xfrm>
            <a:off x="685800" y="1696861"/>
            <a:ext cx="6089904" cy="5090583"/>
          </a:xfrm>
        </p:spPr>
        <p:txBody>
          <a:bodyPr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666" name="Content Placeholder 12"/>
          <p:cNvSpPr>
            <a:spLocks noGrp="1"/>
          </p:cNvSpPr>
          <p:nvPr>
            <p:ph sz="half" idx="2"/>
          </p:nvPr>
        </p:nvSpPr>
        <p:spPr>
          <a:xfrm>
            <a:off x="6972300" y="1696861"/>
            <a:ext cx="6089904" cy="5090583"/>
          </a:xfrm>
        </p:spPr>
        <p:txBody>
          <a:bodyPr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04866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4/16/2021</a:t>
            </a:fld>
            <a:endParaRPr lang="en-US"/>
          </a:p>
        </p:txBody>
      </p:sp>
      <p:sp>
        <p:nvSpPr>
          <p:cNvPr id="1048670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58343"/>
            <a:ext cx="6060282" cy="848431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b" bIns="61004" lIns="122008" rIns="122008" tIns="61004">
            <a:noAutofit/>
          </a:bodyPr>
          <a:lstStyle>
            <a:lvl1pPr algn="l" indent="0" marL="0">
              <a:spcBef>
                <a:spcPts val="0"/>
              </a:spcBef>
              <a:buNone/>
              <a:defRPr b="1" sz="3500">
                <a:solidFill>
                  <a:schemeClr val="tx2"/>
                </a:solidFill>
              </a:defRPr>
            </a:lvl1pPr>
            <a:lvl2pPr>
              <a:buNone/>
              <a:defRPr b="1" sz="2700"/>
            </a:lvl2pPr>
            <a:lvl3pPr>
              <a:buNone/>
              <a:defRPr b="1" sz="2400"/>
            </a:lvl3pPr>
            <a:lvl4pPr>
              <a:buNone/>
              <a:defRPr b="1" sz="2100"/>
            </a:lvl4pPr>
            <a:lvl5pPr>
              <a:buNone/>
              <a:defRPr b="1" sz="21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671" name="Content Placeholder 31"/>
          <p:cNvSpPr>
            <a:spLocks noGrp="1"/>
          </p:cNvSpPr>
          <p:nvPr>
            <p:ph sz="half" idx="2"/>
          </p:nvPr>
        </p:nvSpPr>
        <p:spPr>
          <a:xfrm>
            <a:off x="685800" y="2451648"/>
            <a:ext cx="6057900" cy="4357539"/>
          </a:xfrm>
        </p:spPr>
        <p:txBody>
          <a:bodyPr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672" name="Content Placeholder 33"/>
          <p:cNvSpPr>
            <a:spLocks noGrp="1"/>
          </p:cNvSpPr>
          <p:nvPr>
            <p:ph sz="quarter" idx="4"/>
          </p:nvPr>
        </p:nvSpPr>
        <p:spPr>
          <a:xfrm>
            <a:off x="6974682" y="2451648"/>
            <a:ext cx="6057900" cy="4357539"/>
          </a:xfrm>
        </p:spPr>
        <p:txBody>
          <a:bodyPr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673" name="Title 1"/>
          <p:cNvSpPr>
            <a:spLocks noGrp="1"/>
          </p:cNvSpPr>
          <p:nvPr>
            <p:ph type="title"/>
          </p:nvPr>
        </p:nvSpPr>
        <p:spPr>
          <a:xfrm>
            <a:off x="685800" y="173080"/>
            <a:ext cx="12344400" cy="1272646"/>
          </a:xfrm>
        </p:spPr>
        <p:txBody>
          <a:bodyPr anchor="b" anchorCtr="0"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74" name="Text Placeholder 11"/>
          <p:cNvSpPr>
            <a:spLocks noGrp="1"/>
          </p:cNvSpPr>
          <p:nvPr>
            <p:ph type="body" idx="3"/>
          </p:nvPr>
        </p:nvSpPr>
        <p:spPr>
          <a:xfrm>
            <a:off x="6972300" y="1558343"/>
            <a:ext cx="6060282" cy="848431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b" bIns="61004" lIns="122008" rIns="122008" tIns="61004">
            <a:noAutofit/>
          </a:bodyPr>
          <a:lstStyle>
            <a:lvl1pPr algn="l" indent="0" marL="0">
              <a:spcBef>
                <a:spcPts val="0"/>
              </a:spcBef>
              <a:buNone/>
              <a:defRPr baseline="0" b="1" sz="3500">
                <a:solidFill>
                  <a:schemeClr val="tx2"/>
                </a:solidFill>
              </a:defRPr>
            </a:lvl1pPr>
            <a:lvl2pPr>
              <a:buNone/>
              <a:defRPr b="1" sz="2700"/>
            </a:lvl2pPr>
            <a:lvl3pPr>
              <a:buNone/>
              <a:defRPr b="1" sz="2400"/>
            </a:lvl3pPr>
            <a:lvl4pPr>
              <a:buNone/>
              <a:defRPr b="1" sz="2100"/>
            </a:lvl4pPr>
            <a:lvl5pPr>
              <a:buNone/>
              <a:defRPr b="1" sz="21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cxnSp>
        <p:nvCxnSpPr>
          <p:cNvPr id="3145754" name="Straight Connector 9"/>
          <p:cNvCxnSpPr>
            <a:cxnSpLocks/>
          </p:cNvCxnSpPr>
          <p:nvPr/>
        </p:nvCxnSpPr>
        <p:spPr>
          <a:xfrm>
            <a:off x="844418" y="2427512"/>
            <a:ext cx="5623560" cy="1768"/>
          </a:xfrm>
          <a:prstGeom prst="line"/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algn="tl" blurRad="34925" dir="27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5" name="Straight Connector 16"/>
          <p:cNvCxnSpPr>
            <a:cxnSpLocks/>
          </p:cNvCxnSpPr>
          <p:nvPr/>
        </p:nvCxnSpPr>
        <p:spPr>
          <a:xfrm>
            <a:off x="7132320" y="2427512"/>
            <a:ext cx="5623560" cy="1768"/>
          </a:xfrm>
          <a:prstGeom prst="line"/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algn="tl" blurRad="34925" dir="27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4/16/2021</a:t>
            </a:fld>
            <a:endParaRPr lang="en-US"/>
          </a:p>
        </p:txBody>
      </p:sp>
      <p:sp>
        <p:nvSpPr>
          <p:cNvPr id="104863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04863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4/16/2021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objTx">
  <p:cSld name="Content with Caption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Content Placeholder 28"/>
          <p:cNvSpPr>
            <a:spLocks noGrp="1"/>
          </p:cNvSpPr>
          <p:nvPr>
            <p:ph sz="quarter" idx="1"/>
          </p:nvPr>
        </p:nvSpPr>
        <p:spPr>
          <a:xfrm>
            <a:off x="685800" y="509058"/>
            <a:ext cx="9372600" cy="6363229"/>
          </a:xfrm>
        </p:spPr>
        <p:txBody>
          <a:bodyPr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676" name="Text Placeholder 2"/>
          <p:cNvSpPr>
            <a:spLocks noGrp="1"/>
          </p:cNvSpPr>
          <p:nvPr>
            <p:ph type="body" idx="2"/>
          </p:nvPr>
        </p:nvSpPr>
        <p:spPr>
          <a:xfrm>
            <a:off x="10172700" y="1781704"/>
            <a:ext cx="2976372" cy="4157310"/>
          </a:xfrm>
        </p:spPr>
        <p:txBody>
          <a:bodyPr anchor="t" anchorCtr="0" bIns="61004" tIns="61004"/>
          <a:lstStyle>
            <a:lvl1pPr indent="0" marL="0">
              <a:lnSpc>
                <a:spcPct val="125000"/>
              </a:lnSpc>
              <a:spcAft>
                <a:spcPts val="1334"/>
              </a:spcAft>
              <a:buNone/>
              <a:defRPr sz="2100">
                <a:solidFill>
                  <a:schemeClr val="tx2"/>
                </a:solidFill>
              </a:defRPr>
            </a:lvl1pPr>
            <a:lvl2pPr>
              <a:buNone/>
              <a:defRPr sz="1600"/>
            </a:lvl2pPr>
            <a:lvl3pPr>
              <a:buNone/>
              <a:defRPr sz="13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677" name="Title 30"/>
          <p:cNvSpPr>
            <a:spLocks noGrp="1"/>
          </p:cNvSpPr>
          <p:nvPr>
            <p:ph type="title"/>
          </p:nvPr>
        </p:nvSpPr>
        <p:spPr>
          <a:xfrm>
            <a:off x="10172700" y="509058"/>
            <a:ext cx="2971800" cy="1187803"/>
          </a:xfrm>
        </p:spPr>
        <p:txBody>
          <a:bodyPr anchor="b" anchorCtr="0" lIns="122008" tIns="122008"/>
          <a:lstStyle>
            <a:lvl1pPr algn="l">
              <a:buNone/>
              <a:defRPr baseline="0" b="1" sz="2400" spc="-67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7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4/16/2021</a:t>
            </a:fld>
            <a:endParaRPr lang="en-US"/>
          </a:p>
        </p:txBody>
      </p:sp>
      <p:sp>
        <p:nvSpPr>
          <p:cNvPr id="104867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04868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picTx">
  <p:cSld name="Picture with Caption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>
          <a:xfrm>
            <a:off x="9944100" y="509058"/>
            <a:ext cx="3086100" cy="1187803"/>
          </a:xfrm>
        </p:spPr>
        <p:txBody>
          <a:bodyPr anchor="b" anchorCtr="0" lIns="122008" tIns="122008"/>
          <a:lstStyle>
            <a:lvl1pPr algn="l">
              <a:buNone/>
              <a:defRPr baseline="0" b="1" sz="2400" spc="-67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46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509058"/>
            <a:ext cx="9029700" cy="6193543"/>
          </a:xfrm>
          <a:solidFill>
            <a:schemeClr val="tx2">
              <a:tint val="40000"/>
            </a:schemeClr>
          </a:solidFill>
          <a:effectLst>
            <a:outerShdw algn="ctr" blurRad="88900" rotWithShape="0" sx="103000" sy="10300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indent="0" marL="0">
              <a:buNone/>
              <a:defRPr sz="43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1048647" name="Text Placeholder 3"/>
          <p:cNvSpPr>
            <a:spLocks noGrp="1"/>
          </p:cNvSpPr>
          <p:nvPr>
            <p:ph type="body" sz="half" idx="2"/>
          </p:nvPr>
        </p:nvSpPr>
        <p:spPr>
          <a:xfrm>
            <a:off x="9944100" y="1781704"/>
            <a:ext cx="3086100" cy="4920897"/>
          </a:xfrm>
        </p:spPr>
        <p:txBody>
          <a:bodyPr anchor="t" anchorCtr="0"/>
          <a:lstStyle>
            <a:lvl1pPr indent="0" marL="0">
              <a:lnSpc>
                <a:spcPct val="125000"/>
              </a:lnSpc>
              <a:spcAft>
                <a:spcPts val="1334"/>
              </a:spcAft>
              <a:buFontTx/>
              <a:buNone/>
              <a:defRPr b="0" sz="2100">
                <a:solidFill>
                  <a:schemeClr val="tx2"/>
                </a:solidFill>
              </a:defRPr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64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4/16/2021</a:t>
            </a:fld>
            <a:endParaRPr lang="en-US"/>
          </a:p>
        </p:txBody>
      </p:sp>
      <p:sp>
        <p:nvSpPr>
          <p:cNvPr id="104864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04865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5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6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4/16/2021</a:t>
            </a:fld>
            <a:endParaRPr lang="en-US"/>
          </a:p>
        </p:txBody>
      </p:sp>
      <p:sp>
        <p:nvSpPr>
          <p:cNvPr id="10486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Vertical Title 1"/>
          <p:cNvSpPr>
            <a:spLocks noGrp="1"/>
          </p:cNvSpPr>
          <p:nvPr>
            <p:ph type="title" orient="vert"/>
          </p:nvPr>
        </p:nvSpPr>
        <p:spPr>
          <a:xfrm>
            <a:off x="9944100" y="305789"/>
            <a:ext cx="3086100" cy="6515240"/>
          </a:xfrm>
        </p:spPr>
        <p:txBody>
          <a:bodyPr vert="eaVert"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3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5789"/>
            <a:ext cx="9029700" cy="6515240"/>
          </a:xfrm>
        </p:spPr>
        <p:txBody>
          <a:bodyPr vert="eaVert"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63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4/16/2021</a:t>
            </a:fld>
            <a:endParaRPr lang="en-US"/>
          </a:p>
        </p:txBody>
      </p:sp>
      <p:sp>
        <p:nvSpPr>
          <p:cNvPr id="104863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ext Placeholder 8"/>
          <p:cNvSpPr>
            <a:spLocks noGrp="1"/>
          </p:cNvSpPr>
          <p:nvPr>
            <p:ph type="body" idx="1"/>
          </p:nvPr>
        </p:nvSpPr>
        <p:spPr>
          <a:xfrm>
            <a:off x="685800" y="1612018"/>
            <a:ext cx="12344400" cy="5209011"/>
          </a:xfrm>
          <a:prstGeom prst="rect"/>
        </p:spPr>
        <p:txBody>
          <a:bodyPr bIns="61004" lIns="122008" rIns="122008" tIns="61004" vert="horz">
            <a:normAutofit/>
          </a:bodyPr>
          <a:p>
            <a:pPr eaLnBrk="1" hangingPunct="1" latinLnBrk="0" lvl="0"/>
            <a:r>
              <a:rPr kumimoji="0" lang="en-US" smtClean="0"/>
              <a:t>Click to edit Master text styles</a:t>
            </a:r>
          </a:p>
          <a:p>
            <a:pPr eaLnBrk="1" hangingPunct="1" latinLnBrk="0" lvl="1"/>
            <a:r>
              <a:rPr kumimoji="0" lang="en-US" smtClean="0"/>
              <a:t>Second level</a:t>
            </a:r>
          </a:p>
          <a:p>
            <a:pPr eaLnBrk="1" hangingPunct="1" latinLnBrk="0" lvl="2"/>
            <a:r>
              <a:rPr kumimoji="0" lang="en-US" smtClean="0"/>
              <a:t>Third level</a:t>
            </a:r>
          </a:p>
          <a:p>
            <a:pPr eaLnBrk="1" hangingPunct="1" latinLnBrk="0" lvl="3"/>
            <a:r>
              <a:rPr kumimoji="0" lang="en-US" smtClean="0"/>
              <a:t>Fourth level</a:t>
            </a:r>
          </a:p>
          <a:p>
            <a:pPr eaLnBrk="1" hangingPunct="1" latinLnBrk="0" lvl="4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48577" name="Date Placeholder 23"/>
          <p:cNvSpPr>
            <a:spLocks noGrp="1"/>
          </p:cNvSpPr>
          <p:nvPr>
            <p:ph type="dt" sz="half" idx="2"/>
          </p:nvPr>
        </p:nvSpPr>
        <p:spPr>
          <a:xfrm>
            <a:off x="8686800" y="6907324"/>
            <a:ext cx="3886200" cy="427609"/>
          </a:xfrm>
          <a:prstGeom prst="rect"/>
        </p:spPr>
        <p:txBody>
          <a:bodyPr anchor="ctr" anchorCtr="0" bIns="61004" lIns="122008" rIns="122008" tIns="61004" vert="horz"/>
          <a:lstStyle>
            <a:lvl1pPr algn="l" eaLnBrk="1" hangingPunct="1" latinLnBrk="0">
              <a:defRPr sz="1600" kumimoji="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4/16/2021</a:t>
            </a:fld>
            <a:endParaRPr lang="en-US"/>
          </a:p>
        </p:txBody>
      </p:sp>
      <p:sp>
        <p:nvSpPr>
          <p:cNvPr id="1048578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3200400" y="6907324"/>
            <a:ext cx="5372100" cy="427609"/>
          </a:xfrm>
          <a:prstGeom prst="rect"/>
        </p:spPr>
        <p:txBody>
          <a:bodyPr anchor="ctr" anchorCtr="0" bIns="61004" lIns="122008" rIns="122008" tIns="61004" vert="horz"/>
          <a:lstStyle>
            <a:lvl1pPr algn="r" eaLnBrk="1" hangingPunct="1" latinLnBrk="0">
              <a:defRPr sz="1600" kumimoji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048579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2615863" y="6882677"/>
            <a:ext cx="914400" cy="509058"/>
          </a:xfrm>
          <a:prstGeom prst="rect"/>
          <a:noFill/>
        </p:spPr>
        <p:txBody>
          <a:bodyPr anchor="ctr" anchorCtr="0" bIns="0" lIns="0" rIns="0" tIns="0" vert="horz">
            <a:noAutofit/>
          </a:bodyPr>
          <a:lstStyle>
            <a:lvl1pPr algn="ctr" eaLnBrk="1" hangingPunct="1" latinLnBrk="0">
              <a:defRPr baseline="0" sz="2100" kumimoji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048580" name="Title Placeholder 4"/>
          <p:cNvSpPr>
            <a:spLocks noGrp="1"/>
          </p:cNvSpPr>
          <p:nvPr>
            <p:ph type="title"/>
          </p:nvPr>
        </p:nvSpPr>
        <p:spPr>
          <a:xfrm>
            <a:off x="685800" y="169686"/>
            <a:ext cx="12344400" cy="1357489"/>
          </a:xfrm>
          <a:prstGeom prst="rect"/>
          <a:ln w="6350" cap="rnd">
            <a:noFill/>
          </a:ln>
        </p:spPr>
        <p:txBody>
          <a:bodyPr anchor="b" anchorCtr="0" bIns="61004" lIns="122008" rIns="122008" tIns="61004" vert="horz">
            <a:normAutofit/>
          </a:bodyPr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accent1="accent1" accent2="accent2" accent3="accent3" accent4="accent4" accent5="accent5" accent6="accent6" bg1="dk1" bg2="dk2" tx1="lt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eaLnBrk="1" hangingPunct="1" latinLnBrk="0" rtl="0">
        <a:spcBef>
          <a:spcPct val="0"/>
        </a:spcBef>
        <a:buNone/>
        <a:defRPr baseline="0" b="0" dirty="0" sz="5600" kern="1200" kumimoji="0" lang="en-US" spc="-133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r="13500000" dist="254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algn="l" eaLnBrk="1" hangingPunct="1" indent="-366025" latinLnBrk="0" marL="366025" rtl="0">
        <a:spcBef>
          <a:spcPts val="801"/>
        </a:spcBef>
        <a:buClr>
          <a:schemeClr val="accent2"/>
        </a:buClr>
        <a:buSzPct val="85000"/>
        <a:buFont typeface="Wingdings 2"/>
        <a:buChar char=""/>
        <a:defRPr sz="3500"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indent="-366025" latinLnBrk="0" marL="854059" rtl="0">
        <a:spcBef>
          <a:spcPts val="4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sz="3200" kern="1200" kumimoji="0">
          <a:solidFill>
            <a:schemeClr val="tx2"/>
          </a:solidFill>
          <a:latin typeface="+mn-lt"/>
          <a:ea typeface="+mn-ea"/>
          <a:cs typeface="+mn-cs"/>
        </a:defRPr>
      </a:lvl2pPr>
      <a:lvl3pPr algn="l" eaLnBrk="1" hangingPunct="1" indent="-305021" latinLnBrk="0" marL="1342092" rtl="0">
        <a:spcBef>
          <a:spcPts val="4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sz="2800"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indent="-305021" latinLnBrk="0" marL="1708117" rtl="0">
        <a:spcBef>
          <a:spcPts val="4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sz="2500"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indent="-305021" latinLnBrk="0" marL="2074143" rtl="0">
        <a:spcBef>
          <a:spcPts val="454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sz="2100"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indent="-305021" latinLnBrk="0" marL="2440168" rtl="0">
        <a:spcBef>
          <a:spcPts val="454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sz="2300"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indent="-244017" latinLnBrk="0" marL="2684185" rtl="0">
        <a:spcBef>
          <a:spcPts val="454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baseline="0" sz="2100"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indent="-244017" latinLnBrk="0" marL="3050210" rtl="0">
        <a:spcBef>
          <a:spcPts val="454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sz="2000"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indent="-244017" latinLnBrk="0" marL="3416235" rtl="0">
        <a:spcBef>
          <a:spcPts val="454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sz="2000" kern="1200" kumimoji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algn="l" eaLnBrk="1" hangingPunct="1" latinLnBrk="0" marL="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latinLnBrk="0" marL="610042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latinLnBrk="0" marL="1220084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latinLnBrk="0" marL="1830126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latinLnBrk="0" marL="2440168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latinLnBrk="0" marL="305021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latinLnBrk="0" marL="3660252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latinLnBrk="0" marL="4270294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latinLnBrk="0" marL="4880336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extBox 2"/>
          <p:cNvSpPr txBox="1"/>
          <p:nvPr/>
        </p:nvSpPr>
        <p:spPr>
          <a:xfrm>
            <a:off x="1066800" y="2078456"/>
            <a:ext cx="13716002" cy="1426408"/>
          </a:xfrm>
          <a:prstGeom prst="rect"/>
          <a:noFill/>
        </p:spPr>
        <p:txBody>
          <a:bodyPr bIns="52804" lIns="105606" rIns="105606" rtlCol="0" tIns="52804" wrap="square">
            <a:spAutoFit/>
          </a:bodyPr>
          <a:p>
            <a:r>
              <a:rPr b="1" dirty="0" sz="2800" lang="en-US" smtClean="0">
                <a:solidFill>
                  <a:schemeClr val="accent3">
                    <a:lumMod val="40000"/>
                    <a:lumOff val="60000"/>
                  </a:schemeClr>
                </a:solidFill>
                <a:latin typeface="Castellar" pitchFamily="18" charset="0"/>
              </a:rPr>
              <a:t>                 </a:t>
            </a:r>
            <a:r>
              <a:rPr b="1" dirty="0" sz="2800" lang="en-US" smtClean="0">
                <a:solidFill>
                  <a:schemeClr val="accent3">
                    <a:lumMod val="40000"/>
                    <a:lumOff val="60000"/>
                  </a:schemeClr>
                </a:solidFill>
                <a:latin typeface="Castellar" pitchFamily="18" charset="0"/>
              </a:rPr>
              <a:t> </a:t>
            </a:r>
            <a:r>
              <a:rPr b="1" dirty="0" sz="2800" lang="en-US" smtClean="0">
                <a:solidFill>
                  <a:schemeClr val="accent3">
                    <a:lumMod val="40000"/>
                    <a:lumOff val="60000"/>
                  </a:schemeClr>
                </a:solidFill>
                <a:latin typeface="Castellar" pitchFamily="18" charset="0"/>
              </a:rPr>
              <a:t> </a:t>
            </a:r>
            <a:r>
              <a:rPr b="1" dirty="0" sz="2800" lang="en-US" smtClean="0">
                <a:solidFill>
                  <a:schemeClr val="accent3">
                    <a:lumMod val="40000"/>
                    <a:lumOff val="60000"/>
                  </a:schemeClr>
                </a:solidFill>
                <a:latin typeface="Castellar" pitchFamily="18" charset="0"/>
              </a:rPr>
              <a:t> </a:t>
            </a:r>
            <a:r>
              <a:rPr b="1" dirty="0" sz="2900" lang="en-US" smtClean="0">
                <a:solidFill>
                  <a:schemeClr val="bg1"/>
                </a:solidFill>
                <a:latin typeface="Castellar" pitchFamily="18" charset="0"/>
              </a:rPr>
              <a:t>Pre </a:t>
            </a:r>
            <a:r>
              <a:rPr b="1" dirty="0" sz="2900" lang="en-US" smtClean="0">
                <a:solidFill>
                  <a:schemeClr val="bg1"/>
                </a:solidFill>
                <a:latin typeface="Castellar" pitchFamily="18" charset="0"/>
              </a:rPr>
              <a:t>–</a:t>
            </a:r>
            <a:r>
              <a:rPr b="1" dirty="0" sz="2900" lang="en-US" smtClean="0">
                <a:solidFill>
                  <a:schemeClr val="bg1"/>
                </a:solidFill>
                <a:latin typeface="Castellar" pitchFamily="18" charset="0"/>
              </a:rPr>
              <a:t>P</a:t>
            </a:r>
            <a:r>
              <a:rPr b="1" dirty="0" sz="3200" lang="en-US" smtClean="0">
                <a:solidFill>
                  <a:schemeClr val="bg1"/>
                </a:solidFill>
              </a:rPr>
              <a:t>h</a:t>
            </a:r>
            <a:r>
              <a:rPr b="1" dirty="0" sz="2900" lang="en-US" smtClean="0">
                <a:solidFill>
                  <a:schemeClr val="bg1"/>
                </a:solidFill>
                <a:latin typeface="Castellar" pitchFamily="18" charset="0"/>
              </a:rPr>
              <a:t>.D</a:t>
            </a:r>
            <a:r>
              <a:rPr b="1" dirty="0" sz="2800" lang="en-US" smtClean="0">
                <a:solidFill>
                  <a:schemeClr val="bg1"/>
                </a:solidFill>
                <a:latin typeface="Castellar" pitchFamily="18" charset="0"/>
              </a:rPr>
              <a:t>. </a:t>
            </a:r>
            <a:r>
              <a:rPr b="1" dirty="0" sz="2800" lang="en-US" smtClean="0">
                <a:solidFill>
                  <a:schemeClr val="bg1"/>
                </a:solidFill>
                <a:latin typeface="Castellar" pitchFamily="18" charset="0"/>
              </a:rPr>
              <a:t>Course Work  (Research  methodology)</a:t>
            </a:r>
            <a:endParaRPr altLang="en-US" lang="zh-CN"/>
          </a:p>
          <a:p>
            <a:r>
              <a:rPr b="1" dirty="0" sz="2800" lang="en-US" smtClean="0">
                <a:solidFill>
                  <a:schemeClr val="bg1"/>
                </a:solidFill>
                <a:latin typeface="Castellar" pitchFamily="18" charset="0"/>
              </a:rPr>
              <a:t>                                                    2021-22</a:t>
            </a:r>
          </a:p>
          <a:p>
            <a:r>
              <a:rPr b="1" dirty="0" sz="2800" lang="en-US" smtClean="0">
                <a:solidFill>
                  <a:schemeClr val="bg1"/>
                </a:solidFill>
                <a:latin typeface="Castellar" pitchFamily="18" charset="0"/>
              </a:rPr>
              <a:t>                                 “meaning &amp; types of research”</a:t>
            </a:r>
            <a:endParaRPr dirty="0" sz="2800" lang="en-US">
              <a:solidFill>
                <a:schemeClr val="bg1"/>
              </a:solidFill>
            </a:endParaRPr>
          </a:p>
        </p:txBody>
      </p:sp>
      <p:sp>
        <p:nvSpPr>
          <p:cNvPr id="1048585" name="Rectangle 3"/>
          <p:cNvSpPr/>
          <p:nvPr/>
        </p:nvSpPr>
        <p:spPr>
          <a:xfrm>
            <a:off x="1066800" y="465139"/>
            <a:ext cx="11658600" cy="1029969"/>
          </a:xfrm>
          <a:prstGeom prst="rect"/>
          <a:noFill/>
        </p:spPr>
        <p:txBody>
          <a:bodyPr bIns="52804" lIns="105606" rIns="105606" tIns="52804" wrap="square">
            <a:spAutoFit/>
            <a:scene3d>
              <a:camera prst="orthographicFront"/>
              <a:lightRig dir="t" rig="brightRoom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p>
            <a:pPr algn="ctr"/>
            <a:r>
              <a:rPr b="1" dirty="0" sz="6000" lang="en-US" u="sng" smtClean="0">
                <a:solidFill>
                  <a:schemeClr val="bg1"/>
                </a:solidFill>
                <a:latin typeface="Castellar" pitchFamily="18" charset="0"/>
              </a:rPr>
              <a:t>Research methodology</a:t>
            </a:r>
            <a:endParaRPr b="1" cap="all" dirty="0" sz="4800" lang="en-US" u="sng">
              <a:solidFill>
                <a:schemeClr val="bg1"/>
              </a:solidFill>
              <a:effectLst>
                <a:outerShdw algn="tl" blurRad="19685" dir="5400000" dist="12700" rotWithShape="0">
                  <a:schemeClr val="accent1">
                    <a:satMod val="130000"/>
                    <a:alpha val="60000"/>
                  </a:schemeClr>
                </a:outerShdw>
                <a:reflection algn="bl" blurRad="10000" dir="5400000" dist="500" endPos="48000" rotWithShape="0" stA="55000" sy="-100000"/>
              </a:effectLst>
              <a:latin typeface="Castellar" pitchFamily="18" charset="0"/>
            </a:endParaRPr>
          </a:p>
        </p:txBody>
      </p:sp>
      <p:sp>
        <p:nvSpPr>
          <p:cNvPr id="1048586" name="TextBox 4"/>
          <p:cNvSpPr txBox="1"/>
          <p:nvPr/>
        </p:nvSpPr>
        <p:spPr>
          <a:xfrm>
            <a:off x="7086600" y="5418142"/>
            <a:ext cx="5867400" cy="1172408"/>
          </a:xfrm>
          <a:prstGeom prst="rect"/>
          <a:noFill/>
        </p:spPr>
        <p:txBody>
          <a:bodyPr bIns="52804" lIns="105606" rIns="105606" rtlCol="0" tIns="52804" wrap="square">
            <a:spAutoFit/>
          </a:bodyPr>
          <a:p>
            <a:pPr algn="r"/>
            <a:r>
              <a:rPr b="1" dirty="0" sz="2400" lang="en-US" u="sng" smtClean="0">
                <a:solidFill>
                  <a:schemeClr val="bg1"/>
                </a:solidFill>
                <a:latin typeface="Castellar" pitchFamily="18" charset="0"/>
              </a:rPr>
              <a:t>Presented By:  Paras Negi                            </a:t>
            </a:r>
          </a:p>
          <a:p>
            <a:pPr algn="r"/>
            <a:r>
              <a:rPr b="1" dirty="0" sz="2400" lang="en-US" smtClean="0">
                <a:solidFill>
                  <a:schemeClr val="bg1"/>
                </a:solidFill>
                <a:latin typeface="Castellar" pitchFamily="18" charset="0"/>
              </a:rPr>
              <a:t>    Computer science</a:t>
            </a:r>
            <a:r>
              <a:rPr b="1" dirty="0" sz="2400" lang="en-US" smtClean="0">
                <a:solidFill>
                  <a:schemeClr val="accent3">
                    <a:lumMod val="40000"/>
                    <a:lumOff val="60000"/>
                  </a:schemeClr>
                </a:solidFill>
                <a:latin typeface="Castellar" pitchFamily="18" charset="0"/>
              </a:rPr>
              <a:t> </a:t>
            </a:r>
          </a:p>
          <a:p>
            <a:endParaRPr dirty="0" sz="2400" lang="en-US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extBox 10"/>
          <p:cNvSpPr txBox="1"/>
          <p:nvPr/>
        </p:nvSpPr>
        <p:spPr>
          <a:xfrm>
            <a:off x="278766" y="666095"/>
            <a:ext cx="6259406" cy="660637"/>
          </a:xfrm>
          <a:prstGeom prst="rect"/>
          <a:noFill/>
        </p:spPr>
        <p:txBody>
          <a:bodyPr bIns="52804" lIns="105606" rIns="105606" rtlCol="0" tIns="52804" wrap="square">
            <a:spAutoFit/>
          </a:bodyPr>
          <a:p>
            <a:r>
              <a:rPr b="1" dirty="0" sz="3600" lang="en-US" u="sng" smtClean="0">
                <a:solidFill>
                  <a:schemeClr val="bg1"/>
                </a:solidFill>
                <a:latin typeface="Castellar" pitchFamily="18" charset="0"/>
              </a:rPr>
              <a:t>Research: Meaning</a:t>
            </a:r>
            <a:endParaRPr b="1" dirty="0" sz="2400" lang="en-US" u="sng">
              <a:solidFill>
                <a:schemeClr val="bg1"/>
              </a:solidFill>
              <a:latin typeface="Castellar" pitchFamily="18" charset="0"/>
            </a:endParaRPr>
          </a:p>
        </p:txBody>
      </p:sp>
      <p:sp>
        <p:nvSpPr>
          <p:cNvPr id="1048588" name="TextBox 11"/>
          <p:cNvSpPr txBox="1"/>
          <p:nvPr/>
        </p:nvSpPr>
        <p:spPr>
          <a:xfrm>
            <a:off x="278766" y="1326732"/>
            <a:ext cx="13437233" cy="4982408"/>
          </a:xfrm>
          <a:prstGeom prst="rect"/>
          <a:noFill/>
        </p:spPr>
        <p:txBody>
          <a:bodyPr bIns="52804" lIns="105606" rIns="105606" rtlCol="0" tIns="52804" wrap="square">
            <a:spAutoFit/>
          </a:bodyPr>
          <a:p>
            <a:endParaRPr b="1" dirty="0" lang="en-US" smtClean="0">
              <a:solidFill>
                <a:schemeClr val="bg1"/>
              </a:solidFill>
              <a:latin typeface="Castellar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b="1" dirty="0" lang="en-US" smtClean="0">
                <a:solidFill>
                  <a:schemeClr val="bg1"/>
                </a:solidFill>
                <a:latin typeface="Castellar" pitchFamily="18" charset="0"/>
              </a:rPr>
              <a:t> Research is a process of steps used to collect and analyse information to</a:t>
            </a:r>
          </a:p>
          <a:p>
            <a:r>
              <a:rPr b="1" dirty="0" lang="en-US" smtClean="0">
                <a:solidFill>
                  <a:schemeClr val="bg1"/>
                </a:solidFill>
                <a:latin typeface="Castellar" pitchFamily="18" charset="0"/>
              </a:rPr>
              <a:t>      increase our understanding of a topic or issue.</a:t>
            </a:r>
          </a:p>
          <a:p>
            <a:pPr>
              <a:buFont typeface="Wingdings" pitchFamily="2" charset="2"/>
              <a:buChar char="Ø"/>
            </a:pPr>
            <a:endParaRPr b="1" dirty="0" lang="en-US" smtClean="0">
              <a:solidFill>
                <a:schemeClr val="bg1"/>
              </a:solidFill>
              <a:latin typeface="Castellar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b="1" dirty="0" lang="en-US" smtClean="0">
                <a:solidFill>
                  <a:schemeClr val="bg1"/>
                </a:solidFill>
                <a:latin typeface="Castellar" pitchFamily="18" charset="0"/>
              </a:rPr>
              <a:t>   Is a process of enquiry and investigation.</a:t>
            </a:r>
          </a:p>
          <a:p>
            <a:pPr>
              <a:buFont typeface="Wingdings" pitchFamily="2" charset="2"/>
              <a:buChar char="Ø"/>
            </a:pPr>
            <a:endParaRPr b="1" dirty="0" lang="en-US" smtClean="0">
              <a:solidFill>
                <a:schemeClr val="bg1"/>
              </a:solidFill>
              <a:latin typeface="Castellar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b="1" dirty="0" lang="en-US" smtClean="0">
                <a:solidFill>
                  <a:schemeClr val="bg1"/>
                </a:solidFill>
                <a:latin typeface="Castellar" pitchFamily="18" charset="0"/>
              </a:rPr>
              <a:t>   Is systematic and methodical.</a:t>
            </a:r>
          </a:p>
          <a:p>
            <a:pPr>
              <a:buFont typeface="Wingdings" pitchFamily="2" charset="2"/>
              <a:buChar char="Ø"/>
            </a:pPr>
            <a:endParaRPr b="1" dirty="0" lang="en-US" smtClean="0">
              <a:solidFill>
                <a:schemeClr val="bg1"/>
              </a:solidFill>
              <a:latin typeface="Castellar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b="1" dirty="0" lang="en-US" smtClean="0">
                <a:solidFill>
                  <a:schemeClr val="bg1"/>
                </a:solidFill>
                <a:latin typeface="Castellar" pitchFamily="18" charset="0"/>
              </a:rPr>
              <a:t>   Increase the knowledge.</a:t>
            </a:r>
          </a:p>
          <a:p>
            <a:pPr>
              <a:buFont typeface="Wingdings" pitchFamily="2" charset="2"/>
              <a:buChar char="Ø"/>
            </a:pPr>
            <a:endParaRPr b="1" dirty="0" lang="en-US" smtClean="0">
              <a:solidFill>
                <a:schemeClr val="bg1"/>
              </a:solidFill>
              <a:latin typeface="Castellar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b="1" dirty="0" lang="en-US" smtClean="0">
                <a:solidFill>
                  <a:schemeClr val="bg1"/>
                </a:solidFill>
                <a:latin typeface="Castellar" pitchFamily="18" charset="0"/>
              </a:rPr>
              <a:t>   Offer solution to a problem.</a:t>
            </a:r>
          </a:p>
          <a:p>
            <a:pPr>
              <a:buFont typeface="Wingdings" pitchFamily="2" charset="2"/>
              <a:buChar char="Ø"/>
            </a:pPr>
            <a:endParaRPr b="1" dirty="0" lang="en-US" smtClean="0">
              <a:solidFill>
                <a:schemeClr val="bg1"/>
              </a:solidFill>
              <a:latin typeface="Castellar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b="1" dirty="0" lang="en-US" smtClean="0">
                <a:solidFill>
                  <a:schemeClr val="bg1"/>
                </a:solidFill>
                <a:latin typeface="Castellar" pitchFamily="18" charset="0"/>
              </a:rPr>
              <a:t>   Generate new knowledge.</a:t>
            </a:r>
          </a:p>
          <a:p>
            <a:pPr>
              <a:buFont typeface="Wingdings" pitchFamily="2" charset="2"/>
              <a:buChar char="Ø"/>
            </a:pPr>
            <a:endParaRPr b="1" dirty="0" lang="en-US" smtClean="0">
              <a:solidFill>
                <a:schemeClr val="bg1"/>
              </a:solidFill>
              <a:latin typeface="Castellar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b="1" dirty="0" lang="en-US" smtClean="0">
                <a:solidFill>
                  <a:schemeClr val="bg1"/>
                </a:solidFill>
                <a:latin typeface="Castellar" pitchFamily="18" charset="0"/>
              </a:rPr>
              <a:t>   Explore and analyse more general issue.</a:t>
            </a:r>
          </a:p>
          <a:p>
            <a:endParaRPr b="1" dirty="0" lang="en-US" smtClean="0">
              <a:solidFill>
                <a:schemeClr val="bg1"/>
              </a:solidFill>
              <a:latin typeface="Castellar" pitchFamily="18" charset="0"/>
            </a:endParaRPr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extBox 5"/>
          <p:cNvSpPr txBox="1"/>
          <p:nvPr/>
        </p:nvSpPr>
        <p:spPr>
          <a:xfrm>
            <a:off x="533406" y="312741"/>
            <a:ext cx="5100712" cy="639008"/>
          </a:xfrm>
          <a:prstGeom prst="rect"/>
          <a:noFill/>
        </p:spPr>
        <p:txBody>
          <a:bodyPr bIns="52804" lIns="105606" rIns="105606" rtlCol="0" tIns="52804" wrap="none">
            <a:spAutoFit/>
          </a:bodyPr>
          <a:p>
            <a:r>
              <a:rPr b="1" dirty="0" sz="3600" lang="en-US" u="sng" smtClean="0">
                <a:solidFill>
                  <a:schemeClr val="bg1"/>
                </a:solidFill>
              </a:rPr>
              <a:t>Research characteristic</a:t>
            </a:r>
            <a:r>
              <a:rPr b="1" dirty="0" sz="2400" lang="en-US" u="sng" smtClean="0">
                <a:solidFill>
                  <a:schemeClr val="bg1"/>
                </a:solidFill>
              </a:rPr>
              <a:t>:</a:t>
            </a:r>
            <a:endParaRPr b="1" dirty="0" sz="2400" lang="en-US" u="sng">
              <a:solidFill>
                <a:schemeClr val="bg1"/>
              </a:solidFill>
            </a:endParaRPr>
          </a:p>
        </p:txBody>
      </p:sp>
      <p:sp>
        <p:nvSpPr>
          <p:cNvPr id="1048590" name="TextBox 6"/>
          <p:cNvSpPr txBox="1"/>
          <p:nvPr/>
        </p:nvSpPr>
        <p:spPr>
          <a:xfrm>
            <a:off x="304800" y="1150938"/>
            <a:ext cx="11658600" cy="5896808"/>
          </a:xfrm>
          <a:prstGeom prst="rect"/>
          <a:noFill/>
        </p:spPr>
        <p:txBody>
          <a:bodyPr bIns="52804" lIns="105606" rIns="105606" rtlCol="0" tIns="52804" wrap="square">
            <a:spAutoFit/>
          </a:bodyPr>
          <a:p>
            <a:r>
              <a:rPr dirty="0" lang="en-US" smtClean="0">
                <a:solidFill>
                  <a:schemeClr val="bg1"/>
                </a:solidFill>
              </a:rPr>
              <a:t>Characteristic ensure that research is free of biases, prejudices. </a:t>
            </a:r>
          </a:p>
          <a:p>
            <a:endParaRPr dirty="0" lang="en-US" smtClean="0">
              <a:solidFill>
                <a:schemeClr val="bg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b="1" dirty="0" i="1" lang="en-US" u="sng" smtClean="0">
                <a:solidFill>
                  <a:schemeClr val="bg1"/>
                </a:solidFill>
              </a:rPr>
              <a:t>Objectivity:</a:t>
            </a:r>
            <a:r>
              <a:rPr dirty="0" lang="en-US" smtClean="0">
                <a:solidFill>
                  <a:schemeClr val="bg1"/>
                </a:solidFill>
              </a:rPr>
              <a:t> Result are not affected by their own presence, behaviour and attitude, it means research is without any bias.</a:t>
            </a:r>
          </a:p>
          <a:p>
            <a:pPr>
              <a:buFont typeface="Wingdings" pitchFamily="2" charset="2"/>
              <a:buChar char="Ø"/>
            </a:pPr>
            <a:endParaRPr dirty="0" lang="en-US" smtClean="0">
              <a:solidFill>
                <a:schemeClr val="bg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b="1" dirty="0" i="1" lang="en-US" u="sng" smtClean="0">
                <a:solidFill>
                  <a:schemeClr val="bg1"/>
                </a:solidFill>
              </a:rPr>
              <a:t>Reliability:</a:t>
            </a:r>
            <a:r>
              <a:rPr dirty="0" lang="en-US" smtClean="0">
                <a:solidFill>
                  <a:schemeClr val="bg1"/>
                </a:solidFill>
              </a:rPr>
              <a:t> Reliability in the context of research is consistency.</a:t>
            </a:r>
          </a:p>
          <a:p>
            <a:pPr>
              <a:buFont typeface="Wingdings" pitchFamily="2" charset="2"/>
              <a:buChar char="Ø"/>
            </a:pPr>
            <a:endParaRPr dirty="0" lang="en-US" smtClean="0">
              <a:solidFill>
                <a:schemeClr val="bg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b="1" dirty="0" i="1" lang="en-US" u="sng" smtClean="0">
                <a:solidFill>
                  <a:schemeClr val="bg1"/>
                </a:solidFill>
              </a:rPr>
              <a:t>Validity:</a:t>
            </a:r>
            <a:r>
              <a:rPr dirty="0" lang="en-US" smtClean="0">
                <a:solidFill>
                  <a:schemeClr val="bg1"/>
                </a:solidFill>
              </a:rPr>
              <a:t> Free from any systematic error and concept are defined in the best possible manner. </a:t>
            </a:r>
          </a:p>
          <a:p>
            <a:r>
              <a:rPr dirty="0" lang="en-US" smtClean="0">
                <a:solidFill>
                  <a:schemeClr val="bg1"/>
                </a:solidFill>
              </a:rPr>
              <a:t>  </a:t>
            </a:r>
          </a:p>
          <a:p>
            <a:r>
              <a:rPr dirty="0" lang="en-US" smtClean="0">
                <a:solidFill>
                  <a:schemeClr val="bg1"/>
                </a:solidFill>
              </a:rPr>
              <a:t>           </a:t>
            </a:r>
            <a:r>
              <a:rPr b="1" dirty="0" lang="en-US" smtClean="0">
                <a:solidFill>
                  <a:schemeClr val="bg1"/>
                </a:solidFill>
              </a:rPr>
              <a:t> “ </a:t>
            </a:r>
            <a:r>
              <a:rPr b="1" dirty="0" i="1" lang="en-US" u="sng" smtClean="0">
                <a:solidFill>
                  <a:schemeClr val="bg1"/>
                </a:solidFill>
              </a:rPr>
              <a:t>Are we measuring or able to measure what we originally intended to measure?</a:t>
            </a:r>
            <a:r>
              <a:rPr b="1" dirty="0" lang="en-US" smtClean="0">
                <a:solidFill>
                  <a:schemeClr val="bg1"/>
                </a:solidFill>
              </a:rPr>
              <a:t>”</a:t>
            </a:r>
          </a:p>
          <a:p>
            <a:pPr>
              <a:buFont typeface="Wingdings" pitchFamily="2" charset="2"/>
              <a:buChar char="Ø"/>
            </a:pPr>
            <a:endParaRPr dirty="0" lang="en-US" smtClean="0">
              <a:solidFill>
                <a:schemeClr val="bg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b="1" dirty="0" i="1" lang="en-US" u="sng" smtClean="0">
                <a:solidFill>
                  <a:schemeClr val="bg1"/>
                </a:solidFill>
              </a:rPr>
              <a:t>Empirical Research:</a:t>
            </a:r>
            <a:r>
              <a:rPr dirty="0" lang="en-US" smtClean="0">
                <a:solidFill>
                  <a:schemeClr val="bg1"/>
                </a:solidFill>
              </a:rPr>
              <a:t> It is based on real-life experiences, or observation by the researcher.</a:t>
            </a:r>
          </a:p>
          <a:p>
            <a:pPr>
              <a:buFont typeface="Wingdings" pitchFamily="2" charset="2"/>
              <a:buChar char="Ø"/>
            </a:pPr>
            <a:endParaRPr dirty="0" lang="en-US" smtClean="0">
              <a:solidFill>
                <a:schemeClr val="bg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b="1" dirty="0" lang="en-US" u="sng" smtClean="0">
                <a:solidFill>
                  <a:schemeClr val="bg1"/>
                </a:solidFill>
              </a:rPr>
              <a:t>Cause and Effect</a:t>
            </a:r>
          </a:p>
          <a:p>
            <a:pPr>
              <a:buFont typeface="Wingdings" pitchFamily="2" charset="2"/>
              <a:buChar char="Ø"/>
            </a:pPr>
            <a:endParaRPr dirty="0" lang="en-US" smtClean="0">
              <a:solidFill>
                <a:schemeClr val="bg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b="1" dirty="0" i="1" lang="en-US" u="sng" smtClean="0">
                <a:solidFill>
                  <a:schemeClr val="bg1"/>
                </a:solidFill>
              </a:rPr>
              <a:t>Research is circular</a:t>
            </a:r>
          </a:p>
          <a:p>
            <a:endParaRPr dirty="0" lang="en-US" smtClean="0">
              <a:solidFill>
                <a:schemeClr val="bg1"/>
              </a:solidFill>
            </a:endParaRPr>
          </a:p>
          <a:p>
            <a:endParaRPr dirty="0" lang="en-US" smtClean="0">
              <a:solidFill>
                <a:schemeClr val="bg1"/>
              </a:solidFill>
            </a:endParaRPr>
          </a:p>
          <a:p>
            <a:endParaRPr dirty="0" 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Rectangle 43"/>
          <p:cNvSpPr/>
          <p:nvPr/>
        </p:nvSpPr>
        <p:spPr>
          <a:xfrm>
            <a:off x="4114811" y="236538"/>
            <a:ext cx="5681847" cy="878763"/>
          </a:xfrm>
          <a:prstGeom prst="rect"/>
          <a:noFill/>
        </p:spPr>
        <p:txBody>
          <a:bodyPr bIns="45681" lIns="91373" rIns="91373" tIns="45681" wrap="none">
            <a:spAutoFit/>
            <a:scene3d>
              <a:camera prst="orthographicFront"/>
              <a:lightRig dir="t" rig="fla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p>
            <a:pPr algn="ctr"/>
            <a:r>
              <a:rPr b="1" dirty="0" sz="5300" i="1" lang="en-US" u="sng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Types of research</a:t>
            </a:r>
            <a:endParaRPr b="1" dirty="0" sz="5300" i="1" lang="en-US" u="sng">
              <a:solidFill>
                <a:schemeClr val="bg1"/>
              </a:solidFill>
              <a:latin typeface="Aharoni" pitchFamily="2" charset="-79"/>
              <a:cs typeface="Aharoni" pitchFamily="2" charset="-79"/>
            </a:endParaRPr>
          </a:p>
        </p:txBody>
      </p:sp>
      <p:cxnSp>
        <p:nvCxnSpPr>
          <p:cNvPr id="3145728" name="Straight Arrow Connector 52"/>
          <p:cNvCxnSpPr>
            <a:cxnSpLocks/>
          </p:cNvCxnSpPr>
          <p:nvPr/>
        </p:nvCxnSpPr>
        <p:spPr>
          <a:xfrm rot="16200000" flipH="1">
            <a:off x="5905501" y="1570042"/>
            <a:ext cx="990602" cy="2"/>
          </a:xfrm>
          <a:prstGeom prst="straightConnector1"/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29" name="Straight Connector 61"/>
          <p:cNvCxnSpPr>
            <a:cxnSpLocks/>
          </p:cNvCxnSpPr>
          <p:nvPr/>
        </p:nvCxnSpPr>
        <p:spPr>
          <a:xfrm>
            <a:off x="1905000" y="2065337"/>
            <a:ext cx="10439400" cy="1588"/>
          </a:xfrm>
          <a:prstGeom prst="line"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0" name="Straight Arrow Connector 64"/>
          <p:cNvCxnSpPr>
            <a:cxnSpLocks/>
          </p:cNvCxnSpPr>
          <p:nvPr/>
        </p:nvCxnSpPr>
        <p:spPr>
          <a:xfrm rot="5400000">
            <a:off x="1219201" y="2751147"/>
            <a:ext cx="1219200" cy="1589"/>
          </a:xfrm>
          <a:prstGeom prst="straightConnector1"/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1" name="Straight Arrow Connector 65"/>
          <p:cNvCxnSpPr>
            <a:cxnSpLocks/>
          </p:cNvCxnSpPr>
          <p:nvPr/>
        </p:nvCxnSpPr>
        <p:spPr>
          <a:xfrm rot="5400000">
            <a:off x="11811794" y="2674153"/>
            <a:ext cx="1066800" cy="1589"/>
          </a:xfrm>
          <a:prstGeom prst="straightConnector1"/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2" name="Straight Arrow Connector 66"/>
          <p:cNvCxnSpPr>
            <a:cxnSpLocks/>
          </p:cNvCxnSpPr>
          <p:nvPr/>
        </p:nvCxnSpPr>
        <p:spPr>
          <a:xfrm rot="5400000">
            <a:off x="4572809" y="2826554"/>
            <a:ext cx="1219200" cy="1589"/>
          </a:xfrm>
          <a:prstGeom prst="straightConnector1"/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3" name="Straight Arrow Connector 67"/>
          <p:cNvCxnSpPr>
            <a:cxnSpLocks/>
          </p:cNvCxnSpPr>
          <p:nvPr/>
        </p:nvCxnSpPr>
        <p:spPr>
          <a:xfrm rot="5400000">
            <a:off x="8268504" y="2712253"/>
            <a:ext cx="1143000" cy="1589"/>
          </a:xfrm>
          <a:prstGeom prst="straightConnector1"/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5" name="TextBox 68"/>
          <p:cNvSpPr txBox="1"/>
          <p:nvPr/>
        </p:nvSpPr>
        <p:spPr>
          <a:xfrm>
            <a:off x="1143003" y="3436942"/>
            <a:ext cx="1655946" cy="700963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r>
              <a:rPr b="1" dirty="0" lang="en-US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On the basis </a:t>
            </a:r>
          </a:p>
          <a:p>
            <a:r>
              <a:rPr b="1" dirty="0" lang="en-US" u="sng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of output</a:t>
            </a:r>
            <a:endParaRPr b="1" dirty="0" lang="en-US" u="sng">
              <a:solidFill>
                <a:schemeClr val="bg1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1048596" name="TextBox 69"/>
          <p:cNvSpPr txBox="1"/>
          <p:nvPr/>
        </p:nvSpPr>
        <p:spPr>
          <a:xfrm>
            <a:off x="4343405" y="3513143"/>
            <a:ext cx="1655946" cy="700962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r>
              <a:rPr b="1" dirty="0" lang="en-US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On the basis</a:t>
            </a:r>
          </a:p>
          <a:p>
            <a:r>
              <a:rPr b="1" dirty="0" lang="en-US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 of logic</a:t>
            </a:r>
            <a:endParaRPr b="1" dirty="0" lang="en-US">
              <a:solidFill>
                <a:schemeClr val="bg1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1048597" name="TextBox 70"/>
          <p:cNvSpPr txBox="1"/>
          <p:nvPr/>
        </p:nvSpPr>
        <p:spPr>
          <a:xfrm>
            <a:off x="8229605" y="3436942"/>
            <a:ext cx="1655946" cy="700963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r>
              <a:rPr b="1" dirty="0" lang="en-US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On the basis</a:t>
            </a:r>
          </a:p>
          <a:p>
            <a:r>
              <a:rPr b="1" dirty="0" lang="en-US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Of process </a:t>
            </a:r>
            <a:endParaRPr b="1" dirty="0" lang="en-US">
              <a:solidFill>
                <a:schemeClr val="bg1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1048598" name="TextBox 71"/>
          <p:cNvSpPr txBox="1"/>
          <p:nvPr/>
        </p:nvSpPr>
        <p:spPr>
          <a:xfrm>
            <a:off x="11506205" y="3436942"/>
            <a:ext cx="1655946" cy="700963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r>
              <a:rPr b="1" dirty="0" lang="en-US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On the basis</a:t>
            </a:r>
          </a:p>
          <a:p>
            <a:r>
              <a:rPr b="1" dirty="0" lang="en-US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Of concept</a:t>
            </a:r>
            <a:endParaRPr b="1" dirty="0" lang="en-US">
              <a:solidFill>
                <a:schemeClr val="bg1"/>
              </a:solidFill>
              <a:latin typeface="Aharoni" pitchFamily="2" charset="-79"/>
              <a:cs typeface="Aharoni" pitchFamily="2" charset="-79"/>
            </a:endParaRPr>
          </a:p>
        </p:txBody>
      </p:sp>
      <p:cxnSp>
        <p:nvCxnSpPr>
          <p:cNvPr id="3145734" name="Straight Arrow Connector 72"/>
          <p:cNvCxnSpPr>
            <a:cxnSpLocks/>
          </p:cNvCxnSpPr>
          <p:nvPr/>
        </p:nvCxnSpPr>
        <p:spPr>
          <a:xfrm rot="5400000">
            <a:off x="1447800" y="4502953"/>
            <a:ext cx="762000" cy="1589"/>
          </a:xfrm>
          <a:prstGeom prst="straightConnector1"/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5" name="Straight Arrow Connector 73"/>
          <p:cNvCxnSpPr>
            <a:cxnSpLocks/>
          </p:cNvCxnSpPr>
          <p:nvPr/>
        </p:nvCxnSpPr>
        <p:spPr>
          <a:xfrm rot="5400000">
            <a:off x="4725194" y="4579153"/>
            <a:ext cx="762000" cy="1589"/>
          </a:xfrm>
          <a:prstGeom prst="straightConnector1"/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6" name="Straight Arrow Connector 74"/>
          <p:cNvCxnSpPr>
            <a:cxnSpLocks/>
          </p:cNvCxnSpPr>
          <p:nvPr/>
        </p:nvCxnSpPr>
        <p:spPr>
          <a:xfrm rot="5400000">
            <a:off x="8458994" y="4579153"/>
            <a:ext cx="762000" cy="1589"/>
          </a:xfrm>
          <a:prstGeom prst="straightConnector1"/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7" name="Straight Arrow Connector 75"/>
          <p:cNvCxnSpPr>
            <a:cxnSpLocks/>
          </p:cNvCxnSpPr>
          <p:nvPr/>
        </p:nvCxnSpPr>
        <p:spPr>
          <a:xfrm rot="5400000">
            <a:off x="11964194" y="4655353"/>
            <a:ext cx="762000" cy="1589"/>
          </a:xfrm>
          <a:prstGeom prst="straightConnector1"/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8" name="Straight Connector 76"/>
          <p:cNvCxnSpPr>
            <a:cxnSpLocks/>
          </p:cNvCxnSpPr>
          <p:nvPr/>
        </p:nvCxnSpPr>
        <p:spPr>
          <a:xfrm>
            <a:off x="762000" y="4960937"/>
            <a:ext cx="2057400" cy="1588"/>
          </a:xfrm>
          <a:prstGeom prst="line"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9" name="Straight Connector 77"/>
          <p:cNvCxnSpPr>
            <a:cxnSpLocks/>
          </p:cNvCxnSpPr>
          <p:nvPr/>
        </p:nvCxnSpPr>
        <p:spPr>
          <a:xfrm>
            <a:off x="7848600" y="5037137"/>
            <a:ext cx="2057400" cy="1588"/>
          </a:xfrm>
          <a:prstGeom prst="line"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0" name="Straight Connector 78"/>
          <p:cNvCxnSpPr>
            <a:cxnSpLocks/>
          </p:cNvCxnSpPr>
          <p:nvPr/>
        </p:nvCxnSpPr>
        <p:spPr>
          <a:xfrm>
            <a:off x="4038600" y="4960937"/>
            <a:ext cx="2057400" cy="1588"/>
          </a:xfrm>
          <a:prstGeom prst="line"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1" name="Straight Connector 79"/>
          <p:cNvCxnSpPr>
            <a:cxnSpLocks/>
          </p:cNvCxnSpPr>
          <p:nvPr/>
        </p:nvCxnSpPr>
        <p:spPr>
          <a:xfrm>
            <a:off x="11201400" y="5037137"/>
            <a:ext cx="2057400" cy="1588"/>
          </a:xfrm>
          <a:prstGeom prst="line"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2" name="Straight Arrow Connector 80"/>
          <p:cNvCxnSpPr>
            <a:cxnSpLocks/>
          </p:cNvCxnSpPr>
          <p:nvPr/>
        </p:nvCxnSpPr>
        <p:spPr>
          <a:xfrm rot="5400000">
            <a:off x="419909" y="5303053"/>
            <a:ext cx="685800" cy="1589"/>
          </a:xfrm>
          <a:prstGeom prst="straightConnector1"/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3" name="Straight Arrow Connector 81"/>
          <p:cNvCxnSpPr>
            <a:cxnSpLocks/>
          </p:cNvCxnSpPr>
          <p:nvPr/>
        </p:nvCxnSpPr>
        <p:spPr>
          <a:xfrm rot="5400000">
            <a:off x="7506499" y="5379253"/>
            <a:ext cx="685800" cy="1589"/>
          </a:xfrm>
          <a:prstGeom prst="straightConnector1"/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4" name="Straight Arrow Connector 82"/>
          <p:cNvCxnSpPr>
            <a:cxnSpLocks/>
          </p:cNvCxnSpPr>
          <p:nvPr/>
        </p:nvCxnSpPr>
        <p:spPr>
          <a:xfrm rot="5400000">
            <a:off x="9563909" y="5379253"/>
            <a:ext cx="685800" cy="1589"/>
          </a:xfrm>
          <a:prstGeom prst="straightConnector1"/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5" name="Straight Arrow Connector 83"/>
          <p:cNvCxnSpPr>
            <a:cxnSpLocks/>
          </p:cNvCxnSpPr>
          <p:nvPr/>
        </p:nvCxnSpPr>
        <p:spPr>
          <a:xfrm rot="5400000">
            <a:off x="5753907" y="5303053"/>
            <a:ext cx="685800" cy="1589"/>
          </a:xfrm>
          <a:prstGeom prst="straightConnector1"/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6" name="Straight Arrow Connector 84"/>
          <p:cNvCxnSpPr>
            <a:cxnSpLocks/>
          </p:cNvCxnSpPr>
          <p:nvPr/>
        </p:nvCxnSpPr>
        <p:spPr>
          <a:xfrm rot="5400000">
            <a:off x="2477309" y="5303053"/>
            <a:ext cx="685800" cy="1589"/>
          </a:xfrm>
          <a:prstGeom prst="straightConnector1"/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7" name="Straight Arrow Connector 85"/>
          <p:cNvCxnSpPr>
            <a:cxnSpLocks/>
          </p:cNvCxnSpPr>
          <p:nvPr/>
        </p:nvCxnSpPr>
        <p:spPr>
          <a:xfrm rot="5400000">
            <a:off x="3696502" y="5303053"/>
            <a:ext cx="685800" cy="1589"/>
          </a:xfrm>
          <a:prstGeom prst="straightConnector1"/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8" name="Straight Arrow Connector 86"/>
          <p:cNvCxnSpPr>
            <a:cxnSpLocks/>
          </p:cNvCxnSpPr>
          <p:nvPr/>
        </p:nvCxnSpPr>
        <p:spPr>
          <a:xfrm rot="5400000">
            <a:off x="10859309" y="5379253"/>
            <a:ext cx="685800" cy="1589"/>
          </a:xfrm>
          <a:prstGeom prst="straightConnector1"/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9" name="Straight Arrow Connector 87"/>
          <p:cNvCxnSpPr>
            <a:cxnSpLocks/>
          </p:cNvCxnSpPr>
          <p:nvPr/>
        </p:nvCxnSpPr>
        <p:spPr>
          <a:xfrm rot="5400000">
            <a:off x="12916709" y="5379253"/>
            <a:ext cx="685800" cy="1589"/>
          </a:xfrm>
          <a:prstGeom prst="straightConnector1"/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9" name="TextBox 88"/>
          <p:cNvSpPr txBox="1"/>
          <p:nvPr/>
        </p:nvSpPr>
        <p:spPr>
          <a:xfrm>
            <a:off x="228607" y="5722944"/>
            <a:ext cx="1681346" cy="700963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r>
              <a:rPr b="1" dirty="0" lang="en-US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Basic/</a:t>
            </a:r>
          </a:p>
          <a:p>
            <a:r>
              <a:rPr b="1" dirty="0" lang="en-US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fundamental</a:t>
            </a:r>
            <a:endParaRPr b="1" dirty="0" lang="en-US">
              <a:solidFill>
                <a:schemeClr val="bg1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1048600" name="TextBox 89"/>
          <p:cNvSpPr txBox="1"/>
          <p:nvPr/>
        </p:nvSpPr>
        <p:spPr>
          <a:xfrm>
            <a:off x="2209811" y="5875337"/>
            <a:ext cx="1084446" cy="396163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r>
              <a:rPr b="1" dirty="0" lang="en-US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Applied</a:t>
            </a:r>
            <a:endParaRPr b="1" dirty="0" lang="en-US">
              <a:solidFill>
                <a:schemeClr val="bg1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1048601" name="TextBox 90"/>
          <p:cNvSpPr txBox="1"/>
          <p:nvPr/>
        </p:nvSpPr>
        <p:spPr>
          <a:xfrm>
            <a:off x="3505211" y="5875337"/>
            <a:ext cx="1274946" cy="396163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r>
              <a:rPr b="1" dirty="0" lang="en-US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Inductive</a:t>
            </a:r>
            <a:endParaRPr b="1" dirty="0" lang="en-US">
              <a:solidFill>
                <a:schemeClr val="bg1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1048602" name="TextBox 91"/>
          <p:cNvSpPr txBox="1"/>
          <p:nvPr/>
        </p:nvSpPr>
        <p:spPr>
          <a:xfrm>
            <a:off x="5486407" y="5875337"/>
            <a:ext cx="1363847" cy="396163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r>
              <a:rPr b="1" dirty="0" lang="en-US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Deductive</a:t>
            </a:r>
            <a:endParaRPr b="1" dirty="0" lang="en-US">
              <a:solidFill>
                <a:schemeClr val="bg1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1048603" name="TextBox 92"/>
          <p:cNvSpPr txBox="1"/>
          <p:nvPr/>
        </p:nvSpPr>
        <p:spPr>
          <a:xfrm>
            <a:off x="7162804" y="5875337"/>
            <a:ext cx="1605146" cy="396163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r>
              <a:rPr b="1" dirty="0" lang="en-US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Quantitative</a:t>
            </a:r>
            <a:endParaRPr b="1" dirty="0" lang="en-US">
              <a:solidFill>
                <a:schemeClr val="bg1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1048604" name="TextBox 93"/>
          <p:cNvSpPr txBox="1"/>
          <p:nvPr/>
        </p:nvSpPr>
        <p:spPr>
          <a:xfrm>
            <a:off x="9220207" y="5875337"/>
            <a:ext cx="1427346" cy="396163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r>
              <a:rPr b="1" dirty="0" lang="en-US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Qualitative</a:t>
            </a:r>
            <a:endParaRPr b="1" dirty="0" lang="en-US">
              <a:solidFill>
                <a:schemeClr val="bg1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1048605" name="TextBox 94"/>
          <p:cNvSpPr txBox="1"/>
          <p:nvPr/>
        </p:nvSpPr>
        <p:spPr>
          <a:xfrm>
            <a:off x="10744207" y="5875337"/>
            <a:ext cx="1274947" cy="396163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r>
              <a:rPr b="1" dirty="0" lang="en-US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Empirical</a:t>
            </a:r>
            <a:endParaRPr b="1" dirty="0" lang="en-US">
              <a:solidFill>
                <a:schemeClr val="bg1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1048606" name="TextBox 95"/>
          <p:cNvSpPr txBox="1"/>
          <p:nvPr/>
        </p:nvSpPr>
        <p:spPr>
          <a:xfrm>
            <a:off x="12115802" y="5875342"/>
            <a:ext cx="1600200" cy="415420"/>
          </a:xfrm>
          <a:prstGeom prst="rect"/>
          <a:noFill/>
        </p:spPr>
        <p:txBody>
          <a:bodyPr bIns="45681" lIns="91373" rIns="91373" rtlCol="0" tIns="45681" wrap="square">
            <a:spAutoFit/>
          </a:bodyPr>
          <a:p>
            <a:r>
              <a:rPr b="1" dirty="0" lang="en-US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conceptual</a:t>
            </a:r>
            <a:endParaRPr b="1" dirty="0" lang="en-US">
              <a:solidFill>
                <a:schemeClr val="bg1"/>
              </a:solidFill>
              <a:latin typeface="Aharoni" pitchFamily="2" charset="-79"/>
              <a:cs typeface="Aharoni" pitchFamily="2" charset="-79"/>
            </a:endParaRPr>
          </a:p>
        </p:txBody>
      </p:sp>
      <p:cxnSp>
        <p:nvCxnSpPr>
          <p:cNvPr id="3145750" name="Straight Arrow Connector 96"/>
          <p:cNvCxnSpPr>
            <a:cxnSpLocks/>
          </p:cNvCxnSpPr>
          <p:nvPr/>
        </p:nvCxnSpPr>
        <p:spPr>
          <a:xfrm rot="5400000">
            <a:off x="2552715" y="6523047"/>
            <a:ext cx="381000" cy="1589"/>
          </a:xfrm>
          <a:prstGeom prst="straightConnector1"/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7" name="TextBox 97"/>
          <p:cNvSpPr txBox="1"/>
          <p:nvPr/>
        </p:nvSpPr>
        <p:spPr>
          <a:xfrm>
            <a:off x="2286009" y="6789737"/>
            <a:ext cx="978018" cy="415420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r>
              <a:rPr b="1" dirty="0" lang="en-US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Action</a:t>
            </a:r>
            <a:endParaRPr b="1" dirty="0" lang="en-US">
              <a:solidFill>
                <a:schemeClr val="bg1"/>
              </a:solidFill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3145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3145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1"/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2"/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id="1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7"/>
                                        <p:tgtEl>
                                          <p:spTgt spid="3145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8"/>
                                        <p:tgtEl>
                                          <p:spTgt spid="3145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1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1"/>
                                        <p:tgtEl>
                                          <p:spTgt spid="1048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2"/>
                                        <p:tgtEl>
                                          <p:spTgt spid="1048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3">
                      <p:stCondLst>
                        <p:cond delay="indefinite"/>
                      </p:stCondLst>
                      <p:childTnLst>
                        <p:par>
                          <p:cTn fill="hold" id="24">
                            <p:stCondLst>
                              <p:cond delay="0"/>
                            </p:stCondLst>
                            <p:childTnLst>
                              <p:par>
                                <p:cTn fill="hold" id="2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7"/>
                                        <p:tgtEl>
                                          <p:spTgt spid="3145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8"/>
                                        <p:tgtEl>
                                          <p:spTgt spid="3145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1"/>
                                        <p:tgtEl>
                                          <p:spTgt spid="3145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2"/>
                                        <p:tgtEl>
                                          <p:spTgt spid="3145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5"/>
                                        <p:tgtEl>
                                          <p:spTgt spid="3145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6"/>
                                        <p:tgtEl>
                                          <p:spTgt spid="3145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3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9"/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0"/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3"/>
                                        <p:tgtEl>
                                          <p:spTgt spid="3145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4"/>
                                        <p:tgtEl>
                                          <p:spTgt spid="3145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4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7"/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8"/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9">
                      <p:stCondLst>
                        <p:cond delay="indefinite"/>
                      </p:stCondLst>
                      <p:childTnLst>
                        <p:par>
                          <p:cTn fill="hold" id="50">
                            <p:stCondLst>
                              <p:cond delay="0"/>
                            </p:stCondLst>
                            <p:childTnLst>
                              <p:par>
                                <p:cTn fill="hold" id="5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3"/>
                                        <p:tgtEl>
                                          <p:spTgt spid="3145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4"/>
                                        <p:tgtEl>
                                          <p:spTgt spid="3145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5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7"/>
                                        <p:tgtEl>
                                          <p:spTgt spid="1048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8"/>
                                        <p:tgtEl>
                                          <p:spTgt spid="1048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9">
                      <p:stCondLst>
                        <p:cond delay="indefinite"/>
                      </p:stCondLst>
                      <p:childTnLst>
                        <p:par>
                          <p:cTn fill="hold" id="60">
                            <p:stCondLst>
                              <p:cond delay="0"/>
                            </p:stCondLst>
                            <p:childTnLst>
                              <p:par>
                                <p:cTn fill="hold" id="6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3"/>
                                        <p:tgtEl>
                                          <p:spTgt spid="3145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4"/>
                                        <p:tgtEl>
                                          <p:spTgt spid="3145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6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7"/>
                                        <p:tgtEl>
                                          <p:spTgt spid="1048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8"/>
                                        <p:tgtEl>
                                          <p:spTgt spid="1048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69">
                      <p:stCondLst>
                        <p:cond delay="indefinite"/>
                      </p:stCondLst>
                      <p:childTnLst>
                        <p:par>
                          <p:cTn fill="hold" id="70">
                            <p:stCondLst>
                              <p:cond delay="0"/>
                            </p:stCondLst>
                            <p:childTnLst>
                              <p:par>
                                <p:cTn fill="hold" id="7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3"/>
                                        <p:tgtEl>
                                          <p:spTgt spid="3145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4"/>
                                        <p:tgtEl>
                                          <p:spTgt spid="3145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7"/>
                                        <p:tgtEl>
                                          <p:spTgt spid="3145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8"/>
                                        <p:tgtEl>
                                          <p:spTgt spid="3145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81"/>
                                        <p:tgtEl>
                                          <p:spTgt spid="3145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2"/>
                                        <p:tgtEl>
                                          <p:spTgt spid="3145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85"/>
                                        <p:tgtEl>
                                          <p:spTgt spid="3145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6"/>
                                        <p:tgtEl>
                                          <p:spTgt spid="3145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8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89"/>
                                        <p:tgtEl>
                                          <p:spTgt spid="1048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90"/>
                                        <p:tgtEl>
                                          <p:spTgt spid="1048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9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93"/>
                                        <p:tgtEl>
                                          <p:spTgt spid="1048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94"/>
                                        <p:tgtEl>
                                          <p:spTgt spid="1048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5">
                      <p:stCondLst>
                        <p:cond delay="indefinite"/>
                      </p:stCondLst>
                      <p:childTnLst>
                        <p:par>
                          <p:cTn fill="hold" id="96">
                            <p:stCondLst>
                              <p:cond delay="0"/>
                            </p:stCondLst>
                            <p:childTnLst>
                              <p:par>
                                <p:cTn fill="hold" id="9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99"/>
                                        <p:tgtEl>
                                          <p:spTgt spid="3145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00"/>
                                        <p:tgtEl>
                                          <p:spTgt spid="3145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10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03"/>
                                        <p:tgtEl>
                                          <p:spTgt spid="1048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04"/>
                                        <p:tgtEl>
                                          <p:spTgt spid="1048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5">
                      <p:stCondLst>
                        <p:cond delay="indefinite"/>
                      </p:stCondLst>
                      <p:childTnLst>
                        <p:par>
                          <p:cTn fill="hold" id="106">
                            <p:stCondLst>
                              <p:cond delay="0"/>
                            </p:stCondLst>
                            <p:childTnLst>
                              <p:par>
                                <p:cTn fill="hold" id="10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09"/>
                                        <p:tgtEl>
                                          <p:spTgt spid="3145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10"/>
                                        <p:tgtEl>
                                          <p:spTgt spid="3145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1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13"/>
                                        <p:tgtEl>
                                          <p:spTgt spid="3145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14"/>
                                        <p:tgtEl>
                                          <p:spTgt spid="3145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1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17"/>
                                        <p:tgtEl>
                                          <p:spTgt spid="3145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18"/>
                                        <p:tgtEl>
                                          <p:spTgt spid="3145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1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21"/>
                                        <p:tgtEl>
                                          <p:spTgt spid="3145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22"/>
                                        <p:tgtEl>
                                          <p:spTgt spid="3145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12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25"/>
                                        <p:tgtEl>
                                          <p:spTgt spid="1048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26"/>
                                        <p:tgtEl>
                                          <p:spTgt spid="1048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12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29"/>
                                        <p:tgtEl>
                                          <p:spTgt spid="1048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30"/>
                                        <p:tgtEl>
                                          <p:spTgt spid="1048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1">
                      <p:stCondLst>
                        <p:cond delay="indefinite"/>
                      </p:stCondLst>
                      <p:childTnLst>
                        <p:par>
                          <p:cTn fill="hold" id="132">
                            <p:stCondLst>
                              <p:cond delay="0"/>
                            </p:stCondLst>
                            <p:childTnLst>
                              <p:par>
                                <p:cTn fill="hold" id="13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35"/>
                                        <p:tgtEl>
                                          <p:spTgt spid="3145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36"/>
                                        <p:tgtEl>
                                          <p:spTgt spid="3145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13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39"/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40"/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41">
                      <p:stCondLst>
                        <p:cond delay="indefinite"/>
                      </p:stCondLst>
                      <p:childTnLst>
                        <p:par>
                          <p:cTn fill="hold" id="142">
                            <p:stCondLst>
                              <p:cond delay="0"/>
                            </p:stCondLst>
                            <p:childTnLst>
                              <p:par>
                                <p:cTn fill="hold" id="14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45"/>
                                        <p:tgtEl>
                                          <p:spTgt spid="3145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46"/>
                                        <p:tgtEl>
                                          <p:spTgt spid="3145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4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49"/>
                                        <p:tgtEl>
                                          <p:spTgt spid="3145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50"/>
                                        <p:tgtEl>
                                          <p:spTgt spid="3145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5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53"/>
                                        <p:tgtEl>
                                          <p:spTgt spid="3145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54"/>
                                        <p:tgtEl>
                                          <p:spTgt spid="3145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5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57"/>
                                        <p:tgtEl>
                                          <p:spTgt spid="3145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58"/>
                                        <p:tgtEl>
                                          <p:spTgt spid="3145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15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61"/>
                                        <p:tgtEl>
                                          <p:spTgt spid="1048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62"/>
                                        <p:tgtEl>
                                          <p:spTgt spid="1048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16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65"/>
                                        <p:tgtEl>
                                          <p:spTgt spid="1048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66"/>
                                        <p:tgtEl>
                                          <p:spTgt spid="1048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5" grpId="0"/>
      <p:bldP spid="1048596" grpId="0"/>
      <p:bldP spid="1048597" grpId="0"/>
      <p:bldP spid="1048598" grpId="0"/>
      <p:bldP spid="1048599" grpId="0"/>
      <p:bldP spid="1048600" grpId="0"/>
      <p:bldP spid="1048601" grpId="0"/>
      <p:bldP spid="1048602" grpId="0"/>
      <p:bldP spid="1048603" grpId="0"/>
      <p:bldP spid="1048604" grpId="0"/>
      <p:bldP spid="1048605" grpId="0"/>
      <p:bldP spid="1048606" grpId="0"/>
      <p:bldP spid="104860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extBox 4"/>
          <p:cNvSpPr txBox="1"/>
          <p:nvPr/>
        </p:nvSpPr>
        <p:spPr>
          <a:xfrm>
            <a:off x="228608" y="617538"/>
            <a:ext cx="12260445" cy="751762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r>
              <a:rPr dirty="0" sz="4400" lang="en-US" u="sng" smtClean="0">
                <a:solidFill>
                  <a:schemeClr val="bg1"/>
                </a:solidFill>
                <a:latin typeface="Arial Rounded MT Bold" pitchFamily="34" charset="0"/>
                <a:cs typeface="Aharoni" pitchFamily="2" charset="-79"/>
              </a:rPr>
              <a:t>Classification of research on the basis of Output: </a:t>
            </a:r>
            <a:endParaRPr dirty="0" sz="4400" lang="en-US" u="sng">
              <a:solidFill>
                <a:schemeClr val="bg1"/>
              </a:solidFill>
              <a:latin typeface="Arial Rounded MT Bold" pitchFamily="34" charset="0"/>
              <a:cs typeface="Aharoni" pitchFamily="2" charset="-79"/>
            </a:endParaRPr>
          </a:p>
        </p:txBody>
      </p:sp>
      <p:sp>
        <p:nvSpPr>
          <p:cNvPr id="1048609" name="TextBox 5"/>
          <p:cNvSpPr txBox="1"/>
          <p:nvPr/>
        </p:nvSpPr>
        <p:spPr>
          <a:xfrm>
            <a:off x="1066800" y="1684341"/>
            <a:ext cx="10591800" cy="3063162"/>
          </a:xfrm>
          <a:prstGeom prst="rect"/>
          <a:noFill/>
        </p:spPr>
        <p:txBody>
          <a:bodyPr bIns="45681" lIns="91373" rIns="91373" rtlCol="0" tIns="45681" wrap="square">
            <a:spAutoFit/>
          </a:bodyPr>
          <a:p>
            <a:r>
              <a:rPr b="1" dirty="0" sz="3200" i="1" lang="en-US" u="sng" smtClean="0">
                <a:solidFill>
                  <a:schemeClr val="bg1"/>
                </a:solidFill>
                <a:latin typeface="Arial Rounded MT Bold" pitchFamily="34" charset="0"/>
                <a:cs typeface="Aharoni" pitchFamily="2" charset="-79"/>
              </a:rPr>
              <a:t>Basic/fundamental Research:</a:t>
            </a:r>
          </a:p>
          <a:p>
            <a:endParaRPr dirty="0" sz="2400" lang="en-US" smtClean="0">
              <a:solidFill>
                <a:schemeClr val="bg1"/>
              </a:solidFill>
              <a:latin typeface="Arial Rounded MT Bold" pitchFamily="34" charset="0"/>
              <a:cs typeface="Aharoni" pitchFamily="2" charset="-79"/>
            </a:endParaRP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  <a:cs typeface="Aharoni" pitchFamily="2" charset="-79"/>
              </a:rPr>
              <a:t>The main Purpose of basic research is to add the existing stock of knowledge and thus, it can be intellectually challenging.</a:t>
            </a:r>
          </a:p>
          <a:p>
            <a:pPr>
              <a:buFont typeface="Wingdings" pitchFamily="2" charset="2"/>
              <a:buChar char="Ø"/>
            </a:pPr>
            <a:endParaRPr dirty="0" sz="2400" lang="en-US" smtClean="0">
              <a:solidFill>
                <a:schemeClr val="bg1"/>
              </a:solidFill>
              <a:latin typeface="Arial Rounded MT Bold" pitchFamily="34" charset="0"/>
              <a:cs typeface="Aharoni" pitchFamily="2" charset="-79"/>
            </a:endParaRP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  <a:cs typeface="Aharoni" pitchFamily="2" charset="-79"/>
              </a:rPr>
              <a:t>Aim of improving scientific theories for better understanding.</a:t>
            </a:r>
          </a:p>
          <a:p>
            <a:pPr>
              <a:buFont typeface="Wingdings" pitchFamily="2" charset="2"/>
              <a:buChar char="Ø"/>
            </a:pPr>
            <a:endParaRPr dirty="0" sz="2400" lang="en-US" smtClean="0">
              <a:solidFill>
                <a:schemeClr val="bg1"/>
              </a:solidFill>
              <a:latin typeface="Arial Rounded MT Bold" pitchFamily="34" charset="0"/>
              <a:cs typeface="Aharoni" pitchFamily="2" charset="-79"/>
            </a:endParaRP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  <a:cs typeface="Aharoni" pitchFamily="2" charset="-79"/>
              </a:rPr>
              <a:t>It is not likely to have any practical application.</a:t>
            </a:r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extBox 12"/>
          <p:cNvSpPr txBox="1"/>
          <p:nvPr/>
        </p:nvSpPr>
        <p:spPr>
          <a:xfrm>
            <a:off x="990603" y="465147"/>
            <a:ext cx="4729347" cy="1818562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r>
              <a:rPr b="1" dirty="0" sz="3600" i="1" lang="en-US" u="sng" smtClean="0">
                <a:solidFill>
                  <a:schemeClr val="bg1"/>
                </a:solidFill>
                <a:latin typeface="Arial Rounded MT Bold" pitchFamily="34" charset="0"/>
              </a:rPr>
              <a:t>Applied </a:t>
            </a:r>
            <a:r>
              <a:rPr b="1" dirty="0" sz="4400" i="1" lang="en-US" u="sng" smtClean="0">
                <a:solidFill>
                  <a:schemeClr val="bg1"/>
                </a:solidFill>
                <a:latin typeface="Arial Rounded MT Bold" pitchFamily="34" charset="0"/>
              </a:rPr>
              <a:t>Research</a:t>
            </a:r>
            <a:r>
              <a:rPr b="1" dirty="0" sz="3600" i="1" lang="en-US" u="sng" smtClean="0">
                <a:solidFill>
                  <a:schemeClr val="bg1"/>
                </a:solidFill>
                <a:latin typeface="Arial Rounded MT Bold" pitchFamily="34" charset="0"/>
              </a:rPr>
              <a:t> : </a:t>
            </a:r>
          </a:p>
          <a:p>
            <a:endParaRPr b="1" dirty="0" sz="3600" i="1" lang="en-US" u="sng" smtClean="0">
              <a:solidFill>
                <a:schemeClr val="bg1"/>
              </a:solidFill>
              <a:latin typeface="Arial Rounded MT Bold" pitchFamily="34" charset="0"/>
            </a:endParaRPr>
          </a:p>
          <a:p>
            <a:endParaRPr b="1" dirty="0" sz="3600" i="1" lang="en-US" u="sng" smtClean="0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1048611" name="TextBox 13"/>
          <p:cNvSpPr txBox="1"/>
          <p:nvPr/>
        </p:nvSpPr>
        <p:spPr>
          <a:xfrm>
            <a:off x="228608" y="1227144"/>
            <a:ext cx="10939645" cy="4002962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</a:rPr>
              <a:t>Applied research is done to solve specific, practical question facing the society.</a:t>
            </a:r>
          </a:p>
          <a:p>
            <a:pPr>
              <a:buFont typeface="Wingdings" pitchFamily="2" charset="2"/>
              <a:buChar char="Ø"/>
            </a:pPr>
            <a:endParaRPr dirty="0" sz="2400" lang="en-US" smtClean="0">
              <a:solidFill>
                <a:schemeClr val="bg1"/>
              </a:solidFill>
              <a:latin typeface="Arial Rounded MT Bold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</a:rPr>
              <a:t>It is always done according to basic research.</a:t>
            </a:r>
          </a:p>
          <a:p>
            <a:pPr>
              <a:buFont typeface="Wingdings" pitchFamily="2" charset="2"/>
              <a:buChar char="Ø"/>
            </a:pPr>
            <a:endParaRPr dirty="0" sz="2400" lang="en-US" smtClean="0">
              <a:solidFill>
                <a:schemeClr val="bg1"/>
              </a:solidFill>
              <a:latin typeface="Arial Rounded MT Bold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</a:rPr>
              <a:t>provide innovative solutions to issues affecting an individual, group or society.</a:t>
            </a:r>
          </a:p>
          <a:p>
            <a:pPr>
              <a:buFont typeface="Wingdings" pitchFamily="2" charset="2"/>
              <a:buChar char="Ø"/>
            </a:pPr>
            <a:endParaRPr dirty="0" sz="2400" lang="en-US" smtClean="0">
              <a:solidFill>
                <a:schemeClr val="bg1"/>
              </a:solidFill>
              <a:latin typeface="Arial Rounded MT Bold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</a:rPr>
              <a:t>Problems tend to be more practical.</a:t>
            </a: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</a:rPr>
              <a:t>Seeks to find solutions to immediate problems and issues.</a:t>
            </a:r>
          </a:p>
          <a:p>
            <a:endParaRPr dirty="0" sz="2400" lang="en-US" smtClean="0">
              <a:solidFill>
                <a:schemeClr val="bg1"/>
              </a:solidFill>
              <a:latin typeface="Arial Rounded MT Bold" pitchFamily="34" charset="0"/>
            </a:endParaRPr>
          </a:p>
          <a:p>
            <a:endParaRPr dirty="0" sz="2400" lang="en-US" smtClean="0">
              <a:solidFill>
                <a:schemeClr val="bg1"/>
              </a:solidFill>
              <a:latin typeface="Arial Rounded MT Bold" pitchFamily="34" charset="0"/>
            </a:endParaRPr>
          </a:p>
          <a:p>
            <a:endParaRPr dirty="0" sz="2400" lang="en-US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1048612" name="TextBox 14"/>
          <p:cNvSpPr txBox="1"/>
          <p:nvPr/>
        </p:nvSpPr>
        <p:spPr>
          <a:xfrm>
            <a:off x="990603" y="4348877"/>
            <a:ext cx="4107047" cy="688262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r>
              <a:rPr b="1" dirty="0" sz="3200" i="1" lang="en-US" u="sng" smtClean="0">
                <a:solidFill>
                  <a:schemeClr val="bg1"/>
                </a:solidFill>
                <a:latin typeface="Arial Rounded MT Bold" pitchFamily="34" charset="0"/>
              </a:rPr>
              <a:t>Action </a:t>
            </a:r>
            <a:r>
              <a:rPr b="1" dirty="0" sz="4000" i="1" lang="en-US" u="sng" smtClean="0">
                <a:solidFill>
                  <a:schemeClr val="bg1"/>
                </a:solidFill>
                <a:latin typeface="Arial Rounded MT Bold" pitchFamily="34" charset="0"/>
              </a:rPr>
              <a:t>Research</a:t>
            </a:r>
            <a:r>
              <a:rPr b="1" dirty="0" sz="3200" i="1" lang="en-US" u="sng" smtClean="0">
                <a:solidFill>
                  <a:schemeClr val="bg1"/>
                </a:solidFill>
                <a:latin typeface="Arial Rounded MT Bold" pitchFamily="34" charset="0"/>
              </a:rPr>
              <a:t> : </a:t>
            </a:r>
          </a:p>
        </p:txBody>
      </p:sp>
      <p:sp>
        <p:nvSpPr>
          <p:cNvPr id="1048613" name="TextBox 15"/>
          <p:cNvSpPr txBox="1"/>
          <p:nvPr/>
        </p:nvSpPr>
        <p:spPr>
          <a:xfrm>
            <a:off x="228610" y="5037139"/>
            <a:ext cx="11714345" cy="2224962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</a:rPr>
              <a:t>The term “action research” was coined by Kurt </a:t>
            </a:r>
            <a:r>
              <a:rPr dirty="0" sz="2400" lang="en-US" err="1" smtClean="0">
                <a:solidFill>
                  <a:schemeClr val="bg1"/>
                </a:solidFill>
                <a:latin typeface="Arial Rounded MT Bold" pitchFamily="34" charset="0"/>
              </a:rPr>
              <a:t>Lewin</a:t>
            </a: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</a:rPr>
              <a:t> in 1944 to describe a process of</a:t>
            </a: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</a:rPr>
              <a:t> investigation and inquiry that occurs as action is taken to solve a problem.</a:t>
            </a:r>
          </a:p>
          <a:p>
            <a:pPr>
              <a:buFont typeface="Wingdings" pitchFamily="2" charset="2"/>
              <a:buChar char="Ø"/>
            </a:pPr>
            <a:endParaRPr dirty="0" sz="2400" lang="en-US" smtClean="0">
              <a:solidFill>
                <a:schemeClr val="bg1"/>
              </a:solidFill>
              <a:latin typeface="Arial Rounded MT Bold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</a:rPr>
              <a:t>Seeks to find solutions to immediate problems and issues.</a:t>
            </a:r>
          </a:p>
          <a:p>
            <a:pPr>
              <a:buFont typeface="Wingdings" pitchFamily="2" charset="2"/>
              <a:buChar char="Ø"/>
            </a:pPr>
            <a:endParaRPr dirty="0" sz="2400" lang="en-US" smtClean="0">
              <a:solidFill>
                <a:schemeClr val="bg1"/>
              </a:solidFill>
              <a:latin typeface="Arial Rounded MT Bold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</a:rPr>
              <a:t>Immediate problem solution.</a:t>
            </a:r>
          </a:p>
        </p:txBody>
      </p:sp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extBox 7"/>
          <p:cNvSpPr txBox="1"/>
          <p:nvPr/>
        </p:nvSpPr>
        <p:spPr>
          <a:xfrm>
            <a:off x="609601" y="236538"/>
            <a:ext cx="11222201" cy="707807"/>
          </a:xfrm>
          <a:prstGeom prst="rect"/>
          <a:noFill/>
        </p:spPr>
        <p:txBody>
          <a:bodyPr bIns="45681" lIns="91373" rIns="91373" rtlCol="0" tIns="45681" wrap="square">
            <a:spAutoFit/>
          </a:bodyPr>
          <a:p>
            <a:r>
              <a:rPr b="1" dirty="0" sz="4000" lang="en-US" u="sng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Classification of research on the basis of Logic:</a:t>
            </a:r>
            <a:r>
              <a:rPr b="1" dirty="0" sz="3200" lang="en-US" u="sng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</a:p>
        </p:txBody>
      </p:sp>
      <p:sp>
        <p:nvSpPr>
          <p:cNvPr id="1048615" name="TextBox 8"/>
          <p:cNvSpPr txBox="1"/>
          <p:nvPr/>
        </p:nvSpPr>
        <p:spPr>
          <a:xfrm>
            <a:off x="609601" y="846138"/>
            <a:ext cx="12809066" cy="3825162"/>
          </a:xfrm>
          <a:prstGeom prst="rect"/>
          <a:noFill/>
        </p:spPr>
        <p:txBody>
          <a:bodyPr bIns="45681" lIns="91373" rIns="91373" rtlCol="0" tIns="45681" wrap="square">
            <a:spAutoFit/>
          </a:bodyPr>
          <a:p>
            <a:r>
              <a:rPr b="1" dirty="0" sz="3600" i="1" lang="en-US" u="sng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Inductive:</a:t>
            </a:r>
          </a:p>
          <a:p>
            <a:endParaRPr b="1" dirty="0" sz="2400" i="1" lang="en-US" u="sng" smtClean="0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inductive approach Collect data, analyze patterns in the data, and then theorize from the data</a:t>
            </a:r>
            <a:endParaRPr dirty="0" sz="2400" i="1" lang="en-US" u="sng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endParaRPr b="1" dirty="0" sz="2400" i="1" lang="en-US" u="sng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 Inductive aims at developing a theory.</a:t>
            </a:r>
            <a:endParaRPr b="1" dirty="0" sz="2400" i="1" lang="en-US" u="sng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endParaRPr b="1" dirty="0" sz="2400" i="1" lang="en-US" u="sng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Move from particular to general.</a:t>
            </a:r>
          </a:p>
          <a:p>
            <a:pPr>
              <a:buFont typeface="Wingdings" pitchFamily="2" charset="2"/>
              <a:buChar char="Ø"/>
            </a:pPr>
            <a:endParaRPr dirty="0" sz="2400" lang="en-US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Move from example to rule. </a:t>
            </a:r>
          </a:p>
        </p:txBody>
      </p:sp>
      <p:sp>
        <p:nvSpPr>
          <p:cNvPr id="1048616" name="TextBox 9"/>
          <p:cNvSpPr txBox="1"/>
          <p:nvPr/>
        </p:nvSpPr>
        <p:spPr>
          <a:xfrm>
            <a:off x="609600" y="4198937"/>
            <a:ext cx="11887200" cy="4510962"/>
          </a:xfrm>
          <a:prstGeom prst="rect"/>
          <a:noFill/>
        </p:spPr>
        <p:txBody>
          <a:bodyPr bIns="45681" lIns="91373" rIns="91373" rtlCol="0" tIns="45681" wrap="square">
            <a:spAutoFit/>
          </a:bodyPr>
          <a:p>
            <a:endParaRPr b="1" dirty="0" sz="3600" i="1" lang="en-US" u="sng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r>
              <a:rPr b="1" dirty="0" sz="3600" i="1" lang="en-US" u="sng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Deductive:</a:t>
            </a:r>
          </a:p>
          <a:p>
            <a:pPr>
              <a:buFont typeface="Wingdings" pitchFamily="2" charset="2"/>
              <a:buChar char="Ø"/>
            </a:pPr>
            <a:r>
              <a:rPr b="1" dirty="0" sz="2000" i="1" lang="en-US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</a:t>
            </a: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we  </a:t>
            </a: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start  from a theory and try to improve it right with the help of available information.</a:t>
            </a:r>
          </a:p>
          <a:p>
            <a:pPr>
              <a:buFont typeface="Wingdings" pitchFamily="2" charset="2"/>
              <a:buChar char="Ø"/>
            </a:pPr>
            <a:endParaRPr dirty="0" sz="2400" lang="en-US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Move from general to particular .</a:t>
            </a:r>
          </a:p>
          <a:p>
            <a:pPr>
              <a:buFont typeface="Wingdings" pitchFamily="2" charset="2"/>
              <a:buChar char="Ø"/>
            </a:pPr>
            <a:endParaRPr dirty="0" sz="2400" lang="en-US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Move from  rule to example .</a:t>
            </a:r>
            <a:r>
              <a:rPr dirty="0" sz="2400" lang="en-US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</a:p>
          <a:p>
            <a:endParaRPr b="1" dirty="0" sz="2000" i="1" lang="en-US" u="sng" smtClean="0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endParaRPr b="1" dirty="0" sz="2000" i="1" lang="en-US" u="sng" smtClean="0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endParaRPr b="1" dirty="0" sz="2000" i="1" lang="en-US" u="sng" smtClean="0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endParaRPr dirty="0" lang="en-US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Box 5"/>
          <p:cNvSpPr txBox="1"/>
          <p:nvPr/>
        </p:nvSpPr>
        <p:spPr>
          <a:xfrm>
            <a:off x="685800" y="312737"/>
            <a:ext cx="12628746" cy="751762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r>
              <a:rPr b="1" dirty="0" sz="4400" lang="en-US" u="sng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Classification of research on the basis of Process:</a:t>
            </a:r>
            <a:endParaRPr b="1" dirty="0" sz="4000" lang="en-US" u="sng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48618" name="TextBox 6"/>
          <p:cNvSpPr txBox="1"/>
          <p:nvPr/>
        </p:nvSpPr>
        <p:spPr>
          <a:xfrm>
            <a:off x="685800" y="998538"/>
            <a:ext cx="12344400" cy="8930562"/>
          </a:xfrm>
          <a:prstGeom prst="rect"/>
          <a:noFill/>
        </p:spPr>
        <p:txBody>
          <a:bodyPr bIns="45681" lIns="91373" rIns="91373" rtlCol="0" tIns="45681" wrap="square">
            <a:spAutoFit/>
          </a:bodyPr>
          <a:p>
            <a:r>
              <a:rPr b="1" dirty="0" sz="3600" i="1" lang="en-US" u="sng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Quantitative</a:t>
            </a:r>
            <a:r>
              <a:rPr b="1" dirty="0" sz="2400" i="1" lang="en-US" u="sng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:</a:t>
            </a:r>
          </a:p>
          <a:p>
            <a:endParaRPr b="1" dirty="0" sz="2000" i="1" lang="en-US" u="sng" smtClean="0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involves collecting and analyzing numerical data for statistical analysis.</a:t>
            </a:r>
            <a:endParaRPr dirty="0" i="1" lang="en-US" u="sng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endParaRPr dirty="0" i="1" lang="en-US" u="sng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It is similar to deductive research. it is also termed as linear research as it typically follows a linear path.</a:t>
            </a:r>
          </a:p>
          <a:p>
            <a:endParaRPr dirty="0" lang="en-US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r>
              <a:rPr dirty="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    Stating with testable hypothesis.                    Collecting of data.</a:t>
            </a:r>
          </a:p>
          <a:p>
            <a:endParaRPr dirty="0" lang="en-US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r>
              <a:rPr dirty="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    Analysis the data.                                              Accepting or rejecting the hypothesis.</a:t>
            </a:r>
          </a:p>
          <a:p>
            <a:r>
              <a:rPr dirty="0" sz="2000" lang="en-US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</a:t>
            </a:r>
            <a:r>
              <a:rPr b="1" dirty="0" sz="2000" lang="en-US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</a:p>
          <a:p>
            <a:r>
              <a:rPr b="1" dirty="0" sz="3600" i="1" lang="en-US" u="sng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Qualitative</a:t>
            </a:r>
            <a:r>
              <a:rPr b="1" dirty="0" sz="2400" i="1" lang="en-US" u="sng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:</a:t>
            </a:r>
          </a:p>
          <a:p>
            <a:endParaRPr b="1" dirty="0" sz="1700" i="1" lang="en-US" u="sng" smtClean="0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similar to inductive research.</a:t>
            </a:r>
          </a:p>
          <a:p>
            <a:pPr>
              <a:buFont typeface="Wingdings" pitchFamily="2" charset="2"/>
              <a:buChar char="Ø"/>
            </a:pPr>
            <a:endParaRPr dirty="0" sz="2400" lang="en-US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It is basically an approach, which is start with a tentative idea or question.</a:t>
            </a:r>
          </a:p>
          <a:p>
            <a:pPr>
              <a:buFont typeface="Wingdings" pitchFamily="2" charset="2"/>
              <a:buChar char="Ø"/>
            </a:pPr>
            <a:endParaRPr dirty="0" sz="2400" lang="en-US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sz="240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commonly used in the humanities and social sciences.</a:t>
            </a:r>
          </a:p>
          <a:p>
            <a:endParaRPr b="1" dirty="0" sz="2400" lang="en-US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endParaRPr b="1" dirty="0" sz="2000" i="1" lang="en-US" u="sng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endParaRPr b="1" dirty="0" sz="2000" i="1" lang="en-US" u="sng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endParaRPr b="1" dirty="0" sz="1700" i="1" lang="en-US" u="sng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endParaRPr b="1" dirty="0" sz="1700" i="1" lang="en-US" u="sng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endParaRPr b="1" dirty="0" sz="2000" lang="en-US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endParaRPr b="1" dirty="0" sz="2000" i="1" lang="en-US" u="sng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endParaRPr b="1" dirty="0" sz="2000" i="1" lang="en-US" u="sng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endParaRPr b="1" dirty="0" sz="2000"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extBox 4"/>
          <p:cNvSpPr txBox="1"/>
          <p:nvPr/>
        </p:nvSpPr>
        <p:spPr>
          <a:xfrm>
            <a:off x="685808" y="388935"/>
            <a:ext cx="11593103" cy="707807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r>
              <a:rPr b="1" dirty="0" sz="4000" lang="en-US" u="sng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Classification of research on the basis of Concept:</a:t>
            </a:r>
            <a:endParaRPr b="1" dirty="0" sz="3600" lang="en-US" u="sng" smtClean="0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48620" name="TextBox 5"/>
          <p:cNvSpPr txBox="1"/>
          <p:nvPr/>
        </p:nvSpPr>
        <p:spPr>
          <a:xfrm>
            <a:off x="685811" y="922337"/>
            <a:ext cx="12209645" cy="6288962"/>
          </a:xfrm>
          <a:prstGeom prst="rect"/>
          <a:noFill/>
        </p:spPr>
        <p:txBody>
          <a:bodyPr bIns="45681" lIns="91373" rIns="91373" rtlCol="0" tIns="45681" wrap="none">
            <a:spAutoFit/>
          </a:bodyPr>
          <a:p>
            <a:r>
              <a:rPr b="1" dirty="0" sz="3600" i="1" lang="en-US" u="sng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Empirical</a:t>
            </a:r>
            <a:r>
              <a:rPr b="1" dirty="0" sz="2800" i="1" lang="en-US" u="sng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:</a:t>
            </a:r>
          </a:p>
          <a:p>
            <a:endParaRPr b="1" dirty="0" sz="2000" i="1" lang="en-US" u="sng" smtClean="0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sz="2000" lang="en-US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 </a:t>
            </a:r>
            <a:r>
              <a:rPr dirty="0" sz="200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I </a:t>
            </a:r>
            <a:r>
              <a:rPr dirty="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will not believe it unless I see it</a:t>
            </a:r>
            <a:endParaRPr b="1" dirty="0" i="1" lang="en-US" u="sng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endParaRPr b="1" dirty="0" sz="2000" i="1" lang="en-US" u="sng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Empirical research relies on experience or observation.</a:t>
            </a:r>
            <a:endParaRPr b="1" dirty="0" i="1" lang="en-US" u="sng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endParaRPr b="1" dirty="0" i="1" lang="en-US" u="sng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conclusions of the study is strictly drawn from empirical evidence, and therefore “verifiable” evidence..</a:t>
            </a:r>
          </a:p>
          <a:p>
            <a:endParaRPr dirty="0" lang="en-US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 Empirical evidence can be analyzed quantitatively or qualitatively.</a:t>
            </a:r>
          </a:p>
          <a:p>
            <a:r>
              <a:rPr dirty="0" sz="2000" lang="en-US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</a:t>
            </a:r>
          </a:p>
          <a:p>
            <a:r>
              <a:rPr b="1" dirty="0" sz="3600" i="1" lang="en-US" u="sng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Conceptual</a:t>
            </a:r>
            <a:r>
              <a:rPr b="1" dirty="0" sz="2000" i="1" lang="en-US" u="sng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:</a:t>
            </a:r>
          </a:p>
          <a:p>
            <a:endParaRPr b="1" dirty="0" sz="1700" i="1" lang="en-US" u="sng" smtClean="0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Conceptual research generally used by philosophers to develop new concept.</a:t>
            </a:r>
          </a:p>
          <a:p>
            <a:pPr>
              <a:buFont typeface="Wingdings" pitchFamily="2" charset="2"/>
              <a:buChar char="Ø"/>
            </a:pPr>
            <a:endParaRPr dirty="0" lang="en-US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research is conducted by observing and analyzing already present information on a given topic. </a:t>
            </a:r>
          </a:p>
          <a:p>
            <a:pPr>
              <a:buFont typeface="Wingdings" pitchFamily="2" charset="2"/>
              <a:buChar char="Ø"/>
            </a:pPr>
            <a:endParaRPr b="1" dirty="0" lang="en-US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Conceptual</a:t>
            </a:r>
            <a:r>
              <a:rPr b="1" dirty="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dirty="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research doesn't involve conducting any practical experiments.</a:t>
            </a:r>
          </a:p>
          <a:p>
            <a:pPr>
              <a:buFont typeface="Wingdings" pitchFamily="2" charset="2"/>
              <a:buChar char="Ø"/>
            </a:pPr>
            <a:endParaRPr dirty="0" lang="en-US" smtClean="0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dirty="0" lang="en-US" smtClean="0">
                <a:solidFill>
                  <a:schemeClr val="bg1"/>
                </a:solidFill>
                <a:latin typeface="Arial Rounded MT Bold" pitchFamily="34" charset="0"/>
                <a:ea typeface="Arial Unicode MS" pitchFamily="34" charset="-128"/>
                <a:cs typeface="Arial Unicode MS" pitchFamily="34" charset="-128"/>
              </a:rPr>
              <a:t>Related to some abstract idea or theory.</a:t>
            </a:r>
            <a:endParaRPr dirty="0" lang="en-US">
              <a:solidFill>
                <a:schemeClr val="bg1"/>
              </a:solidFill>
              <a:latin typeface="Arial Rounded MT Bold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Rectangle 1"/>
          <p:cNvSpPr/>
          <p:nvPr/>
        </p:nvSpPr>
        <p:spPr>
          <a:xfrm>
            <a:off x="3851013" y="2532696"/>
            <a:ext cx="7924800" cy="1285240"/>
          </a:xfrm>
          <a:prstGeom prst="rect"/>
          <a:noFill/>
        </p:spPr>
        <p:txBody>
          <a:bodyPr bIns="45720" lIns="91440" rIns="91440" tIns="45720" wrap="square">
            <a:spAutoFit/>
          </a:bodyPr>
          <a:p>
            <a:pPr algn="just"/>
            <a:r>
              <a:rPr b="1" dirty="0" sz="8000" lang="en-US" smtClean="0">
                <a:ln>
                  <a:prstDash val="solid"/>
                </a:ln>
                <a:solidFill>
                  <a:srgbClr val="002060"/>
                </a:solidFill>
                <a:effectLst>
                  <a:outerShdw algn="tl" blurRad="88000" dir="5040000" dist="50800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Broadway" pitchFamily="82" charset="0"/>
              </a:rPr>
              <a:t>   Thank</a:t>
            </a:r>
            <a:r>
              <a:rPr b="1" dirty="0" sz="8000" lang="en-US" smtClean="0">
                <a:ln>
                  <a:prstDash val="solid"/>
                </a:ln>
                <a:solidFill>
                  <a:srgbClr val="002060"/>
                </a:solidFill>
                <a:effectLst>
                  <a:outerShdw algn="tl" blurRad="88000" dir="5040000" dist="50800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Harlow Solid Italic" pitchFamily="82" charset="0"/>
              </a:rPr>
              <a:t> </a:t>
            </a:r>
            <a:r>
              <a:rPr b="1" dirty="0" sz="8000" lang="en-US" smtClean="0">
                <a:ln>
                  <a:prstDash val="solid"/>
                </a:ln>
                <a:solidFill>
                  <a:srgbClr val="002060"/>
                </a:solidFill>
                <a:effectLst>
                  <a:outerShdw algn="tl" blurRad="88000" dir="5040000" dist="50800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Broadway" pitchFamily="82" charset="0"/>
              </a:rPr>
              <a:t>you</a:t>
            </a:r>
            <a:endParaRPr b="1" dirty="0" sz="8000" lang="en-US">
              <a:ln>
                <a:prstDash val="solid"/>
              </a:ln>
              <a:solidFill>
                <a:srgbClr val="002060"/>
              </a:solidFill>
              <a:effectLst>
                <a:outerShdw algn="tl" blurRad="88000" dir="5040000" dist="50800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Broadway" pitchFamily="82" charset="0"/>
            </a:endParaRPr>
          </a:p>
        </p:txBody>
      </p:sp>
    </p:spTree>
  </p:cSld>
  <p:clrMapOvr>
    <a:masterClrMapping/>
  </p:clrMapOvr>
  <p:timing/>
</p:sld>
</file>

<file path=ppt/theme/_rels/them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Paper">
  <a:themeElements>
    <a:clrScheme name="Paper">
      <a:dk1>
        <a:sysClr lastClr="000000" val="windowText"/>
      </a:dk1>
      <a:lt1>
        <a:sysClr lastClr="FFFFFF" val="window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algn="tl" flip="none" sx="40000" sy="40000" tx="0" ty="0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algn="tl" flip="none" sx="40000" sy="40000" tx="0" ty="0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algn="tl" blurRad="95000" rotWithShape="0">
              <a:srgbClr val="000000">
                <a:alpha val="50000"/>
              </a:srgbClr>
            </a:outerShdw>
          </a:effectLst>
          <a:scene3d>
            <a:camera prst="orthographicFront"/>
            <a:lightRig dir="t" rig="sof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algn="tl" flip="none" sx="58000" sy="38000" tx="0" ty="0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 1</dc:title>
  <dc:creator>paras</dc:creator>
  <cp:lastModifiedBy>paras</cp:lastModifiedBy>
  <dcterms:created xsi:type="dcterms:W3CDTF">2006-08-15T13:00:00Z</dcterms:created>
  <dcterms:modified xsi:type="dcterms:W3CDTF">2021-04-21T14:31:24Z</dcterms:modified>
</cp:coreProperties>
</file>